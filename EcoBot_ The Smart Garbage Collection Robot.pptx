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6858000" cy="9144000"/>
  <p:embeddedFontLst>
    <p:embeddedFont>
      <p:font typeface="Space Grotesk"/>
      <p:regular r:id="rId20"/>
    </p:embeddedFont>
    <p:embeddedFont>
      <p:font typeface="Roboto" panose="02000000000000000000"/>
      <p:regular r:id="rId21"/>
    </p:embeddedFont>
    <p:embeddedFont>
      <p:font typeface="Space Grotesk Light"/>
      <p:regular r:id="rId22"/>
    </p:embeddedFont>
    <p:embeddedFont>
      <p:font typeface="Lexend ExtraBold"/>
      <p:bold r:id="rId23"/>
    </p:embeddedFont>
    <p:embeddedFont>
      <p:font typeface="Roboto Mono" panose="00000009000000000000"/>
      <p:regular r:id="rId24"/>
      <p:bold r:id="rId25"/>
      <p:italic r:id="rId26"/>
      <p:boldItalic r:id="rId27"/>
    </p:embeddedFont>
    <p:embeddedFont>
      <p:font typeface="Pacifico" panose="0000050000000000000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0027d7dfb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0027d7dfb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0027d7dfb_0_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a0027d7dfb_0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0027d7dfb_0_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0027d7dfb_0_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0027d7dfb_0_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a0027d7dfb_0_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0027d7dfb_0_1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a0027d7dfb_0_1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0027d7dfb_0_1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a0027d7dfb_0_1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0027d7dfb_0_1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a0027d7dfb_0_1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2ad2398ee_0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a2ad2398ee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a0027d7dfb_0_1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a0027d7dfb_0_1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a0027d7dfb_0_1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a0027d7dfb_0_1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0027d7dfb_0_1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a0027d7dfb_0_1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a0027d7dfb_0_2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a0027d7dfb_0_2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a0027d7dfb_0_4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a0027d7dfb_0_4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Cover">
  <p:cSld name="BLANK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  <a:effectLst/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3659249">
            <a:off x="3884409" y="-1334980"/>
            <a:ext cx="7813599" cy="781359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26100" y="144575"/>
            <a:ext cx="8689200" cy="23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type="title" idx="2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type="subTitle" idx="1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3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subTitle" idx="4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description and two images">
  <p:cSld name="CUSTOM_3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type="pic" idx="2"/>
          </p:nvPr>
        </p:nvSpPr>
        <p:spPr>
          <a:xfrm>
            <a:off x="37660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/>
          <p:nvPr>
            <p:ph type="pic" idx="3"/>
          </p:nvPr>
        </p:nvSpPr>
        <p:spPr>
          <a:xfrm>
            <a:off x="2286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244677" y="1660325"/>
            <a:ext cx="4390500" cy="36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244675" y="4049575"/>
            <a:ext cx="3215700" cy="19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244675" y="4406777"/>
            <a:ext cx="3215700" cy="19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3766025" y="4049575"/>
            <a:ext cx="3215700" cy="19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3766025" y="4406777"/>
            <a:ext cx="3215700" cy="19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type="title" idx="8" hasCustomPrompt="1"/>
          </p:nvPr>
        </p:nvSpPr>
        <p:spPr>
          <a:xfrm>
            <a:off x="149953" y="271577"/>
            <a:ext cx="1226400" cy="41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BLANK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" name="Google Shape;27;p4"/>
          <p:cNvSpPr txBox="1"/>
          <p:nvPr>
            <p:ph type="body" idx="1"/>
          </p:nvPr>
        </p:nvSpPr>
        <p:spPr>
          <a:xfrm>
            <a:off x="228600" y="1177425"/>
            <a:ext cx="3755700" cy="17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" name="Google Shape;30;p5"/>
          <p:cNvSpPr txBox="1"/>
          <p:nvPr>
            <p:ph type="body" idx="1"/>
          </p:nvPr>
        </p:nvSpPr>
        <p:spPr>
          <a:xfrm>
            <a:off x="228600" y="1177425"/>
            <a:ext cx="3755700" cy="22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 rot="-4965287">
            <a:off x="3128596" y="1334473"/>
            <a:ext cx="9524549" cy="952454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" name="Google Shape;32;p5"/>
          <p:cNvSpPr txBox="1"/>
          <p:nvPr>
            <p:ph type="subTitle" idx="2"/>
          </p:nvPr>
        </p:nvSpPr>
        <p:spPr>
          <a:xfrm>
            <a:off x="5571900" y="3313500"/>
            <a:ext cx="3343500" cy="7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type="subTitle" idx="3"/>
          </p:nvPr>
        </p:nvSpPr>
        <p:spPr>
          <a:xfrm>
            <a:off x="5571900" y="4320975"/>
            <a:ext cx="3343500" cy="35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BLANK_1_1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ive messures">
  <p:cSld name="CUSTOM_8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12450" y="177900"/>
            <a:ext cx="5789400" cy="99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" name="Google Shape;38;p7"/>
          <p:cNvSpPr txBox="1"/>
          <p:nvPr>
            <p:ph type="title" idx="2"/>
          </p:nvPr>
        </p:nvSpPr>
        <p:spPr>
          <a:xfrm>
            <a:off x="221800" y="2500876"/>
            <a:ext cx="2425500" cy="63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type="title" idx="3"/>
          </p:nvPr>
        </p:nvSpPr>
        <p:spPr>
          <a:xfrm>
            <a:off x="221800" y="3264873"/>
            <a:ext cx="24255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type="title" idx="4"/>
          </p:nvPr>
        </p:nvSpPr>
        <p:spPr>
          <a:xfrm>
            <a:off x="3355850" y="2500876"/>
            <a:ext cx="2425500" cy="63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type="title" idx="5"/>
          </p:nvPr>
        </p:nvSpPr>
        <p:spPr>
          <a:xfrm>
            <a:off x="6489900" y="2500876"/>
            <a:ext cx="2425500" cy="63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title" idx="6"/>
          </p:nvPr>
        </p:nvSpPr>
        <p:spPr>
          <a:xfrm>
            <a:off x="3355850" y="3264873"/>
            <a:ext cx="24255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type="title" idx="7"/>
          </p:nvPr>
        </p:nvSpPr>
        <p:spPr>
          <a:xfrm>
            <a:off x="6496700" y="3264873"/>
            <a:ext cx="24255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title" idx="8" hasCustomPrompt="1"/>
          </p:nvPr>
        </p:nvSpPr>
        <p:spPr>
          <a:xfrm>
            <a:off x="228603" y="4043131"/>
            <a:ext cx="1226400" cy="4155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7"/>
          <p:cNvSpPr txBox="1"/>
          <p:nvPr>
            <p:ph type="title" idx="9"/>
          </p:nvPr>
        </p:nvSpPr>
        <p:spPr>
          <a:xfrm>
            <a:off x="228600" y="4412525"/>
            <a:ext cx="789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6" name="Google Shape;46;p7"/>
          <p:cNvSpPr txBox="1"/>
          <p:nvPr>
            <p:ph type="title" idx="13" hasCustomPrompt="1"/>
          </p:nvPr>
        </p:nvSpPr>
        <p:spPr>
          <a:xfrm>
            <a:off x="1864803" y="4043131"/>
            <a:ext cx="1226400" cy="4155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7"/>
          <p:cNvSpPr txBox="1"/>
          <p:nvPr>
            <p:ph type="title" idx="14"/>
          </p:nvPr>
        </p:nvSpPr>
        <p:spPr>
          <a:xfrm>
            <a:off x="1864800" y="4412525"/>
            <a:ext cx="789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8" name="Google Shape;48;p7"/>
          <p:cNvSpPr txBox="1"/>
          <p:nvPr>
            <p:ph type="title" idx="15" hasCustomPrompt="1"/>
          </p:nvPr>
        </p:nvSpPr>
        <p:spPr>
          <a:xfrm>
            <a:off x="3359253" y="4043131"/>
            <a:ext cx="1226400" cy="4155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7"/>
          <p:cNvSpPr txBox="1"/>
          <p:nvPr>
            <p:ph type="title" idx="16"/>
          </p:nvPr>
        </p:nvSpPr>
        <p:spPr>
          <a:xfrm>
            <a:off x="3359250" y="4412525"/>
            <a:ext cx="789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type="title" idx="17" hasCustomPrompt="1"/>
          </p:nvPr>
        </p:nvSpPr>
        <p:spPr>
          <a:xfrm>
            <a:off x="4995453" y="4043131"/>
            <a:ext cx="1226400" cy="4155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7"/>
          <p:cNvSpPr txBox="1"/>
          <p:nvPr>
            <p:ph type="title" idx="18"/>
          </p:nvPr>
        </p:nvSpPr>
        <p:spPr>
          <a:xfrm>
            <a:off x="4995450" y="4412525"/>
            <a:ext cx="789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2" name="Google Shape;52;p7"/>
          <p:cNvSpPr txBox="1"/>
          <p:nvPr>
            <p:ph type="title" idx="19" hasCustomPrompt="1"/>
          </p:nvPr>
        </p:nvSpPr>
        <p:spPr>
          <a:xfrm>
            <a:off x="6489903" y="4043131"/>
            <a:ext cx="1226400" cy="4155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7"/>
          <p:cNvSpPr txBox="1"/>
          <p:nvPr>
            <p:ph type="title" idx="20"/>
          </p:nvPr>
        </p:nvSpPr>
        <p:spPr>
          <a:xfrm>
            <a:off x="6489900" y="4412525"/>
            <a:ext cx="789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4" name="Google Shape;54;p7"/>
          <p:cNvSpPr txBox="1"/>
          <p:nvPr>
            <p:ph type="title" idx="21" hasCustomPrompt="1"/>
          </p:nvPr>
        </p:nvSpPr>
        <p:spPr>
          <a:xfrm>
            <a:off x="8126103" y="4043131"/>
            <a:ext cx="1226400" cy="4155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7"/>
          <p:cNvSpPr txBox="1"/>
          <p:nvPr>
            <p:ph type="title" idx="22"/>
          </p:nvPr>
        </p:nvSpPr>
        <p:spPr>
          <a:xfrm>
            <a:off x="8126100" y="4412525"/>
            <a:ext cx="789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rter's highlighted outcomes">
  <p:cSld name="CUSTOM_7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  <a:effectLst/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212450" y="177900"/>
            <a:ext cx="5789400" cy="7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8" name="Google Shape;58;p8"/>
          <p:cNvSpPr txBox="1"/>
          <p:nvPr>
            <p:ph type="subTitle" idx="1"/>
          </p:nvPr>
        </p:nvSpPr>
        <p:spPr>
          <a:xfrm>
            <a:off x="228600" y="1799302"/>
            <a:ext cx="1649400" cy="60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type="subTitle" idx="2"/>
          </p:nvPr>
        </p:nvSpPr>
        <p:spPr>
          <a:xfrm>
            <a:off x="228600" y="2926752"/>
            <a:ext cx="1649400" cy="60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type="subTitle" idx="3"/>
          </p:nvPr>
        </p:nvSpPr>
        <p:spPr>
          <a:xfrm>
            <a:off x="228600" y="4033496"/>
            <a:ext cx="1649400" cy="60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type="subTitle" idx="4"/>
          </p:nvPr>
        </p:nvSpPr>
        <p:spPr>
          <a:xfrm>
            <a:off x="2443950" y="1820000"/>
            <a:ext cx="1928700" cy="60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type="subTitle" idx="5"/>
          </p:nvPr>
        </p:nvSpPr>
        <p:spPr>
          <a:xfrm>
            <a:off x="2443950" y="2937100"/>
            <a:ext cx="1928700" cy="60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type="subTitle" idx="6"/>
          </p:nvPr>
        </p:nvSpPr>
        <p:spPr>
          <a:xfrm>
            <a:off x="2443950" y="4054200"/>
            <a:ext cx="1928700" cy="60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type="subTitle" idx="7"/>
          </p:nvPr>
        </p:nvSpPr>
        <p:spPr>
          <a:xfrm>
            <a:off x="5050200" y="1820000"/>
            <a:ext cx="2797500" cy="60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5" name="Google Shape;65;p8"/>
          <p:cNvSpPr txBox="1"/>
          <p:nvPr>
            <p:ph type="subTitle" idx="8"/>
          </p:nvPr>
        </p:nvSpPr>
        <p:spPr>
          <a:xfrm>
            <a:off x="5050200" y="2937100"/>
            <a:ext cx="2797500" cy="60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6" name="Google Shape;66;p8"/>
          <p:cNvSpPr txBox="1"/>
          <p:nvPr>
            <p:ph type="subTitle" idx="9"/>
          </p:nvPr>
        </p:nvSpPr>
        <p:spPr>
          <a:xfrm>
            <a:off x="5050200" y="4054200"/>
            <a:ext cx="2797500" cy="60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ndicators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 hasCustomPrompt="1"/>
          </p:nvPr>
        </p:nvSpPr>
        <p:spPr>
          <a:xfrm>
            <a:off x="3370125" y="3495645"/>
            <a:ext cx="1127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9"/>
          <p:cNvSpPr txBox="1"/>
          <p:nvPr>
            <p:ph type="subTitle" idx="1"/>
          </p:nvPr>
        </p:nvSpPr>
        <p:spPr>
          <a:xfrm>
            <a:off x="3372000" y="3897425"/>
            <a:ext cx="1181700" cy="2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type="title" idx="2" hasCustomPrompt="1"/>
          </p:nvPr>
        </p:nvSpPr>
        <p:spPr>
          <a:xfrm>
            <a:off x="5819400" y="2556158"/>
            <a:ext cx="22089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9"/>
          <p:cNvSpPr txBox="1"/>
          <p:nvPr>
            <p:ph type="subTitle" idx="3"/>
          </p:nvPr>
        </p:nvSpPr>
        <p:spPr>
          <a:xfrm>
            <a:off x="6017200" y="3305600"/>
            <a:ext cx="1731600" cy="2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type="title" idx="4"/>
          </p:nvPr>
        </p:nvSpPr>
        <p:spPr>
          <a:xfrm>
            <a:off x="212450" y="177900"/>
            <a:ext cx="5645700" cy="7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3" name="Google Shape;73;p9"/>
          <p:cNvSpPr txBox="1"/>
          <p:nvPr>
            <p:ph type="title" idx="5" hasCustomPrompt="1"/>
          </p:nvPr>
        </p:nvSpPr>
        <p:spPr>
          <a:xfrm>
            <a:off x="1753450" y="3792650"/>
            <a:ext cx="7980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9"/>
          <p:cNvSpPr txBox="1"/>
          <p:nvPr>
            <p:ph type="subTitle" idx="6"/>
          </p:nvPr>
        </p:nvSpPr>
        <p:spPr>
          <a:xfrm>
            <a:off x="1561550" y="4183550"/>
            <a:ext cx="1181700" cy="2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items">
  <p:cSld name="CUSTOM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  <a:effectLst/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7" name="Google Shape;77;p10"/>
          <p:cNvSpPr txBox="1"/>
          <p:nvPr>
            <p:ph type="subTitle" idx="1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78" name="Google Shape;78;p10"/>
          <p:cNvSpPr txBox="1"/>
          <p:nvPr>
            <p:ph type="subTitle" idx="2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type="subTitle" idx="3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0" name="Google Shape;80;p10"/>
          <p:cNvSpPr txBox="1"/>
          <p:nvPr>
            <p:ph type="subTitle" idx="4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1" name="Google Shape;81;p10"/>
          <p:cNvSpPr txBox="1"/>
          <p:nvPr>
            <p:ph type="subTitle" idx="5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type="subTitle" idx="6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type="subTitle" idx="7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4" name="Google Shape;84;p10"/>
          <p:cNvSpPr txBox="1"/>
          <p:nvPr>
            <p:ph type="subTitle" idx="8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 1">
  <p:cSld name="CUSTOM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type="pic" idx="2"/>
          </p:nvPr>
        </p:nvSpPr>
        <p:spPr>
          <a:xfrm>
            <a:off x="248128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/>
          <p:nvPr>
            <p:ph type="pic" idx="3"/>
          </p:nvPr>
        </p:nvSpPr>
        <p:spPr>
          <a:xfrm>
            <a:off x="473395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1"/>
          <p:cNvSpPr/>
          <p:nvPr>
            <p:ph type="pic" idx="4"/>
          </p:nvPr>
        </p:nvSpPr>
        <p:spPr>
          <a:xfrm>
            <a:off x="698663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1"/>
          <p:cNvSpPr/>
          <p:nvPr>
            <p:ph type="pic" idx="5"/>
          </p:nvPr>
        </p:nvSpPr>
        <p:spPr>
          <a:xfrm>
            <a:off x="22860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0" name="Google Shape;90;p11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91;p11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" name="Google Shape;92;p11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" name="Google Shape;93;p11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" name="Google Shape;94;p11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type="subTitle" idx="1"/>
          </p:nvPr>
        </p:nvSpPr>
        <p:spPr>
          <a:xfrm>
            <a:off x="228650" y="3343950"/>
            <a:ext cx="19287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type="subTitle" idx="6"/>
          </p:nvPr>
        </p:nvSpPr>
        <p:spPr>
          <a:xfrm>
            <a:off x="228600" y="3581375"/>
            <a:ext cx="17145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type="subTitle" idx="7"/>
          </p:nvPr>
        </p:nvSpPr>
        <p:spPr>
          <a:xfrm>
            <a:off x="228600" y="3981350"/>
            <a:ext cx="17145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type="subTitle" idx="8"/>
          </p:nvPr>
        </p:nvSpPr>
        <p:spPr>
          <a:xfrm>
            <a:off x="2481350" y="3343950"/>
            <a:ext cx="19287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type="subTitle" idx="9"/>
          </p:nvPr>
        </p:nvSpPr>
        <p:spPr>
          <a:xfrm>
            <a:off x="2481300" y="3581375"/>
            <a:ext cx="17145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type="subTitle" idx="13"/>
          </p:nvPr>
        </p:nvSpPr>
        <p:spPr>
          <a:xfrm>
            <a:off x="2481300" y="3981350"/>
            <a:ext cx="17145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type="subTitle" idx="14"/>
          </p:nvPr>
        </p:nvSpPr>
        <p:spPr>
          <a:xfrm>
            <a:off x="4734050" y="3343950"/>
            <a:ext cx="19287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type="subTitle" idx="15"/>
          </p:nvPr>
        </p:nvSpPr>
        <p:spPr>
          <a:xfrm>
            <a:off x="4734000" y="3581375"/>
            <a:ext cx="17145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type="subTitle" idx="16"/>
          </p:nvPr>
        </p:nvSpPr>
        <p:spPr>
          <a:xfrm>
            <a:off x="4734000" y="3981350"/>
            <a:ext cx="17145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type="subTitle" idx="17"/>
          </p:nvPr>
        </p:nvSpPr>
        <p:spPr>
          <a:xfrm>
            <a:off x="6986750" y="3343950"/>
            <a:ext cx="19287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type="subTitle" idx="18"/>
          </p:nvPr>
        </p:nvSpPr>
        <p:spPr>
          <a:xfrm>
            <a:off x="6986700" y="3581375"/>
            <a:ext cx="17145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type="subTitle" idx="19"/>
          </p:nvPr>
        </p:nvSpPr>
        <p:spPr>
          <a:xfrm>
            <a:off x="6986700" y="3981350"/>
            <a:ext cx="17145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 2">
  <p:cSld name="CUSTOM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>
            <p:ph type="pic" idx="2"/>
          </p:nvPr>
        </p:nvSpPr>
        <p:spPr>
          <a:xfrm>
            <a:off x="703447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2"/>
          <p:cNvSpPr/>
          <p:nvPr>
            <p:ph type="pic" idx="3"/>
          </p:nvPr>
        </p:nvSpPr>
        <p:spPr>
          <a:xfrm>
            <a:off x="252912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2"/>
          <p:cNvSpPr/>
          <p:nvPr>
            <p:ph type="pic" idx="4"/>
          </p:nvPr>
        </p:nvSpPr>
        <p:spPr>
          <a:xfrm>
            <a:off x="478180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2"/>
          <p:cNvSpPr/>
          <p:nvPr>
            <p:ph type="pic" idx="5"/>
          </p:nvPr>
        </p:nvSpPr>
        <p:spPr>
          <a:xfrm>
            <a:off x="27645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type="subTitle" idx="1"/>
          </p:nvPr>
        </p:nvSpPr>
        <p:spPr>
          <a:xfrm>
            <a:off x="424150" y="3421400"/>
            <a:ext cx="15537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4" name="Google Shape;114;p12"/>
          <p:cNvSpPr txBox="1"/>
          <p:nvPr>
            <p:ph type="subTitle" idx="6"/>
          </p:nvPr>
        </p:nvSpPr>
        <p:spPr>
          <a:xfrm>
            <a:off x="424100" y="3658825"/>
            <a:ext cx="14253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type="subTitle" idx="7"/>
          </p:nvPr>
        </p:nvSpPr>
        <p:spPr>
          <a:xfrm>
            <a:off x="2676825" y="3421400"/>
            <a:ext cx="15537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6" name="Google Shape;116;p12"/>
          <p:cNvSpPr txBox="1"/>
          <p:nvPr>
            <p:ph type="subTitle" idx="8"/>
          </p:nvPr>
        </p:nvSpPr>
        <p:spPr>
          <a:xfrm>
            <a:off x="2676775" y="3658825"/>
            <a:ext cx="14253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type="subTitle" idx="9"/>
          </p:nvPr>
        </p:nvSpPr>
        <p:spPr>
          <a:xfrm>
            <a:off x="4921475" y="3421400"/>
            <a:ext cx="15537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type="subTitle" idx="13"/>
          </p:nvPr>
        </p:nvSpPr>
        <p:spPr>
          <a:xfrm>
            <a:off x="4921425" y="3658825"/>
            <a:ext cx="14253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type="subTitle" idx="14"/>
          </p:nvPr>
        </p:nvSpPr>
        <p:spPr>
          <a:xfrm>
            <a:off x="7182175" y="3421400"/>
            <a:ext cx="15537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type="subTitle" idx="15"/>
          </p:nvPr>
        </p:nvSpPr>
        <p:spPr>
          <a:xfrm>
            <a:off x="7182125" y="3658825"/>
            <a:ext cx="1425300" cy="21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body">
  <p:cSld name="BLANK_1_1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212450" y="177900"/>
            <a:ext cx="64470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123" name="Google Shape;123;p13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" name="Google Shape;124;p13"/>
          <p:cNvSpPr txBox="1"/>
          <p:nvPr>
            <p:ph type="body" idx="1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type="subTitle" idx="2"/>
          </p:nvPr>
        </p:nvSpPr>
        <p:spPr>
          <a:xfrm>
            <a:off x="230434" y="881700"/>
            <a:ext cx="6447000" cy="55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Quotes - Alt 1">
  <p:cSld name="BLANK_1_1_1_1_2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>
            <p:ph type="pic" idx="2"/>
          </p:nvPr>
        </p:nvSpPr>
        <p:spPr>
          <a:xfrm>
            <a:off x="46892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type="body" idx="1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type="subTitle" idx="3"/>
          </p:nvPr>
        </p:nvSpPr>
        <p:spPr>
          <a:xfrm>
            <a:off x="228600" y="881700"/>
            <a:ext cx="8686800" cy="55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type="subTitle" idx="4"/>
          </p:nvPr>
        </p:nvSpPr>
        <p:spPr>
          <a:xfrm>
            <a:off x="1326075" y="3653375"/>
            <a:ext cx="2902200" cy="619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type="subTitle" idx="5"/>
          </p:nvPr>
        </p:nvSpPr>
        <p:spPr>
          <a:xfrm>
            <a:off x="1334825" y="4491500"/>
            <a:ext cx="2902200" cy="209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3" name="Google Shape;133;p14"/>
          <p:cNvSpPr/>
          <p:nvPr>
            <p:ph type="pic" idx="6"/>
          </p:nvPr>
        </p:nvSpPr>
        <p:spPr>
          <a:xfrm>
            <a:off x="490997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4"/>
          <p:cNvSpPr txBox="1"/>
          <p:nvPr>
            <p:ph type="subTitle" idx="7"/>
          </p:nvPr>
        </p:nvSpPr>
        <p:spPr>
          <a:xfrm>
            <a:off x="5764775" y="3653375"/>
            <a:ext cx="2902200" cy="619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5" name="Google Shape;135;p14"/>
          <p:cNvSpPr txBox="1"/>
          <p:nvPr>
            <p:ph type="subTitle" idx="8"/>
          </p:nvPr>
        </p:nvSpPr>
        <p:spPr>
          <a:xfrm>
            <a:off x="5773525" y="4491500"/>
            <a:ext cx="2902200" cy="209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BLANK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16200038" scaled="0"/>
        </a:gradFill>
        <a:effectLst/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 rot="10800000">
            <a:off x="-533850" y="726875"/>
            <a:ext cx="5915100" cy="5915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70825" y="-960900"/>
            <a:ext cx="2762400" cy="2762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959600" y="2651706"/>
            <a:ext cx="1184400" cy="1184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8226006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15"/>
          <p:cNvSpPr/>
          <p:nvPr/>
        </p:nvSpPr>
        <p:spPr>
          <a:xfrm rot="-5400000" flipH="1">
            <a:off x="5305483" y="452788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68365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3" name="Google Shape;143;p15"/>
          <p:cNvSpPr/>
          <p:nvPr/>
        </p:nvSpPr>
        <p:spPr>
          <a:xfrm rot="5400000">
            <a:off x="423169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4" name="Google Shape;144;p15"/>
          <p:cNvSpPr/>
          <p:nvPr/>
        </p:nvSpPr>
        <p:spPr>
          <a:xfrm rot="5400000">
            <a:off x="661864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5" name="Google Shape;145;p15"/>
          <p:cNvSpPr/>
          <p:nvPr/>
        </p:nvSpPr>
        <p:spPr>
          <a:xfrm rot="5400000">
            <a:off x="3164781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5"/>
          <p:cNvSpPr/>
          <p:nvPr/>
        </p:nvSpPr>
        <p:spPr>
          <a:xfrm rot="-5400000" flipH="1">
            <a:off x="531076" y="4586075"/>
            <a:ext cx="24300" cy="628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7" name="Google Shape;147;p15"/>
          <p:cNvSpPr/>
          <p:nvPr/>
        </p:nvSpPr>
        <p:spPr>
          <a:xfrm rot="5400000">
            <a:off x="64008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15"/>
          <p:cNvSpPr/>
          <p:nvPr/>
        </p:nvSpPr>
        <p:spPr>
          <a:xfrm rot="5400000">
            <a:off x="1557419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- alt">
  <p:cSld name="BLANK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/>
          <p:nvPr/>
        </p:nvSpPr>
        <p:spPr>
          <a:xfrm rot="-8920466">
            <a:off x="2599338" y="503023"/>
            <a:ext cx="5915173" cy="5915173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2" name="Google Shape;152;p16"/>
          <p:cNvSpPr txBox="1"/>
          <p:nvPr>
            <p:ph type="subTitle" idx="1"/>
          </p:nvPr>
        </p:nvSpPr>
        <p:spPr>
          <a:xfrm>
            <a:off x="3237075" y="4074650"/>
            <a:ext cx="26697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 panose="02000000000000000000"/>
              <a:buNone/>
              <a:defRPr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 panose="02000000000000000000"/>
              <a:buNone/>
              <a:defRPr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 panose="02000000000000000000"/>
              <a:buNone/>
              <a:defRPr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 panose="02000000000000000000"/>
              <a:buNone/>
              <a:defRPr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 panose="02000000000000000000"/>
              <a:buNone/>
              <a:defRPr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 panose="02000000000000000000"/>
              <a:buNone/>
              <a:defRPr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 panose="02000000000000000000"/>
              <a:buNone/>
              <a:defRPr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 panose="02000000000000000000"/>
              <a:buNone/>
              <a:defRPr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 panose="02000000000000000000"/>
              <a:buNone/>
              <a:defRPr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53" name="Google Shape;153;p16"/>
          <p:cNvSpPr/>
          <p:nvPr/>
        </p:nvSpPr>
        <p:spPr>
          <a:xfrm rot="-8920806">
            <a:off x="581601" y="399117"/>
            <a:ext cx="1887207" cy="1887207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1174800" y="1562850"/>
            <a:ext cx="6794400" cy="232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55" name="Google Shape;155;p16"/>
          <p:cNvSpPr/>
          <p:nvPr/>
        </p:nvSpPr>
        <p:spPr>
          <a:xfrm>
            <a:off x="8891100" y="2286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891100" y="4464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7" name="Google Shape;157;p16"/>
          <p:cNvSpPr/>
          <p:nvPr/>
        </p:nvSpPr>
        <p:spPr>
          <a:xfrm rot="5400000">
            <a:off x="8673244" y="2286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8" name="Google Shape;158;p16"/>
          <p:cNvSpPr/>
          <p:nvPr/>
        </p:nvSpPr>
        <p:spPr>
          <a:xfrm rot="-5400000">
            <a:off x="228591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9" name="Google Shape;159;p16"/>
          <p:cNvSpPr/>
          <p:nvPr/>
        </p:nvSpPr>
        <p:spPr>
          <a:xfrm rot="-5400000">
            <a:off x="446453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28622" y="446459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16"/>
          <p:cNvSpPr/>
          <p:nvPr/>
        </p:nvSpPr>
        <p:spPr>
          <a:xfrm rot="10800000">
            <a:off x="228591" y="4888025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2" name="Google Shape;162;p16"/>
          <p:cNvSpPr/>
          <p:nvPr/>
        </p:nvSpPr>
        <p:spPr>
          <a:xfrm rot="10800000">
            <a:off x="228591" y="46701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3" name="Google Shape;163;p16"/>
          <p:cNvSpPr/>
          <p:nvPr/>
        </p:nvSpPr>
        <p:spPr>
          <a:xfrm rot="-5400000">
            <a:off x="446447" y="4887994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8891100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5" name="Google Shape;165;p16"/>
          <p:cNvSpPr/>
          <p:nvPr/>
        </p:nvSpPr>
        <p:spPr>
          <a:xfrm rot="5400000">
            <a:off x="8673238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891069" y="4670166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7" name="Google Shape;167;p16"/>
          <p:cNvSpPr txBox="1"/>
          <p:nvPr>
            <p:ph type="subTitle" idx="2"/>
          </p:nvPr>
        </p:nvSpPr>
        <p:spPr>
          <a:xfrm>
            <a:off x="3237075" y="4300975"/>
            <a:ext cx="26697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">
  <p:cSld name="BLANK_1_1_1_1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subTitle" idx="1"/>
          </p:nvPr>
        </p:nvSpPr>
        <p:spPr>
          <a:xfrm>
            <a:off x="228600" y="2077513"/>
            <a:ext cx="2568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0" name="Google Shape;170;p17"/>
          <p:cNvSpPr txBox="1"/>
          <p:nvPr>
            <p:ph type="subTitle" idx="2"/>
          </p:nvPr>
        </p:nvSpPr>
        <p:spPr>
          <a:xfrm>
            <a:off x="228600" y="2764250"/>
            <a:ext cx="2568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1" name="Google Shape;171;p17"/>
          <p:cNvSpPr txBox="1"/>
          <p:nvPr>
            <p:ph type="subTitle" idx="3"/>
          </p:nvPr>
        </p:nvSpPr>
        <p:spPr>
          <a:xfrm>
            <a:off x="228700" y="3469938"/>
            <a:ext cx="2568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2" name="Google Shape;172;p17"/>
          <p:cNvSpPr txBox="1"/>
          <p:nvPr>
            <p:ph type="subTitle" idx="4"/>
          </p:nvPr>
        </p:nvSpPr>
        <p:spPr>
          <a:xfrm>
            <a:off x="228700" y="4194625"/>
            <a:ext cx="2568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212450" y="177900"/>
            <a:ext cx="6446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17"/>
          <p:cNvSpPr txBox="1"/>
          <p:nvPr>
            <p:ph type="subTitle" idx="5"/>
          </p:nvPr>
        </p:nvSpPr>
        <p:spPr>
          <a:xfrm>
            <a:off x="631800" y="2060357"/>
            <a:ext cx="21282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type="subTitle" idx="6"/>
          </p:nvPr>
        </p:nvSpPr>
        <p:spPr>
          <a:xfrm>
            <a:off x="631800" y="2747082"/>
            <a:ext cx="21282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type="subTitle" idx="7"/>
          </p:nvPr>
        </p:nvSpPr>
        <p:spPr>
          <a:xfrm>
            <a:off x="631850" y="3452782"/>
            <a:ext cx="21282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type="subTitle" idx="8"/>
          </p:nvPr>
        </p:nvSpPr>
        <p:spPr>
          <a:xfrm>
            <a:off x="631900" y="4177457"/>
            <a:ext cx="21282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type="body" idx="9"/>
          </p:nvPr>
        </p:nvSpPr>
        <p:spPr>
          <a:xfrm>
            <a:off x="2906500" y="4194625"/>
            <a:ext cx="3376200" cy="3309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type="body" idx="13"/>
          </p:nvPr>
        </p:nvSpPr>
        <p:spPr>
          <a:xfrm>
            <a:off x="2906400" y="3479438"/>
            <a:ext cx="3376200" cy="3309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type="body" idx="14"/>
          </p:nvPr>
        </p:nvSpPr>
        <p:spPr>
          <a:xfrm>
            <a:off x="2906400" y="2764263"/>
            <a:ext cx="3376200" cy="3309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type="body" idx="15"/>
          </p:nvPr>
        </p:nvSpPr>
        <p:spPr>
          <a:xfrm>
            <a:off x="2906400" y="2048313"/>
            <a:ext cx="3376200" cy="3309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BLANK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  <a:effectLst/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8891100" y="228600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18"/>
          <p:cNvSpPr/>
          <p:nvPr/>
        </p:nvSpPr>
        <p:spPr>
          <a:xfrm rot="10800000" flipH="1">
            <a:off x="8891100" y="3225473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891100" y="22832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891100" y="488801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891100" y="2392138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891100" y="25010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-4353375" y="-4359625"/>
            <a:ext cx="8713800" cy="8713800"/>
          </a:xfrm>
          <a:prstGeom prst="pie">
            <a:avLst>
              <a:gd name="adj1" fmla="val 2137"/>
              <a:gd name="adj2" fmla="val 5410266"/>
            </a:avLst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7661425" y="1330972"/>
            <a:ext cx="406500" cy="406500"/>
          </a:xfrm>
          <a:prstGeom prst="ellipse">
            <a:avLst/>
          </a:prstGeom>
          <a:gradFill>
            <a:gsLst>
              <a:gs pos="0">
                <a:schemeClr val="dk1"/>
              </a:gs>
              <a:gs pos="31000">
                <a:schemeClr val="dk1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18"/>
          <p:cNvSpPr txBox="1"/>
          <p:nvPr>
            <p:ph type="subTitle" idx="1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2" name="Google Shape;192;p18"/>
          <p:cNvSpPr/>
          <p:nvPr/>
        </p:nvSpPr>
        <p:spPr>
          <a:xfrm>
            <a:off x="5772475" y="912625"/>
            <a:ext cx="1243200" cy="1243200"/>
          </a:xfrm>
          <a:prstGeom prst="ellipse">
            <a:avLst/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3" name="Google Shape;193;p18"/>
          <p:cNvSpPr txBox="1"/>
          <p:nvPr>
            <p:ph type="subTitle" idx="2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5" name="Google Shape;195;p18"/>
          <p:cNvSpPr txBox="1"/>
          <p:nvPr>
            <p:ph type="subTitle" idx="3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type="subTitle" idx="4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type="subTitle" idx="5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8" name="Google Shape;198;p18"/>
          <p:cNvSpPr txBox="1"/>
          <p:nvPr>
            <p:ph type="subTitle" idx="6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type="subTitle" idx="7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type="subTitle" idx="8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1" name="Google Shape;201;p18"/>
          <p:cNvSpPr txBox="1"/>
          <p:nvPr>
            <p:ph type="subTitle" idx="9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type="subTitle" idx="13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type="subTitle" idx="14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type="subTitle" idx="15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type="subTitle" idx="16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type="subTitle" idx="17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type="subTitle" idx="18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8" name="Google Shape;208;p18"/>
          <p:cNvSpPr txBox="1"/>
          <p:nvPr>
            <p:ph type="subTitle" idx="19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type="subTitle" idx="20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10" name="Google Shape;210;p18"/>
          <p:cNvSpPr txBox="1"/>
          <p:nvPr>
            <p:ph type="subTitle" idx="21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 panose="02000000000000000000"/>
              <a:buNone/>
              <a:defRPr sz="1000">
                <a:solidFill>
                  <a:schemeClr val="accen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BLANK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-2956425" y="-4767225"/>
            <a:ext cx="9144000" cy="91440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p19"/>
          <p:cNvSpPr txBox="1"/>
          <p:nvPr>
            <p:ph type="title"/>
          </p:nvPr>
        </p:nvSpPr>
        <p:spPr>
          <a:xfrm>
            <a:off x="212450" y="177900"/>
            <a:ext cx="38268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4" name="Google Shape;214;p19"/>
          <p:cNvSpPr/>
          <p:nvPr>
            <p:ph type="pic" idx="2"/>
          </p:nvPr>
        </p:nvSpPr>
        <p:spPr>
          <a:xfrm>
            <a:off x="4618525" y="0"/>
            <a:ext cx="4296600" cy="4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19"/>
          <p:cNvSpPr txBox="1"/>
          <p:nvPr>
            <p:ph type="body" idx="1"/>
          </p:nvPr>
        </p:nvSpPr>
        <p:spPr>
          <a:xfrm>
            <a:off x="228600" y="1177425"/>
            <a:ext cx="3321300" cy="22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9pPr>
          </a:lstStyle>
          <a:p/>
        </p:txBody>
      </p:sp>
      <p:sp>
        <p:nvSpPr>
          <p:cNvPr id="216" name="Google Shape;216;p19"/>
          <p:cNvSpPr/>
          <p:nvPr/>
        </p:nvSpPr>
        <p:spPr>
          <a:xfrm rot="-5400000">
            <a:off x="893689" y="422281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7" name="Google Shape;217;p19"/>
          <p:cNvSpPr/>
          <p:nvPr/>
        </p:nvSpPr>
        <p:spPr>
          <a:xfrm rot="5400000" flipH="1">
            <a:off x="3585611" y="452776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8" name="Google Shape;218;p19"/>
          <p:cNvSpPr/>
          <p:nvPr/>
        </p:nvSpPr>
        <p:spPr>
          <a:xfrm rot="-5400000">
            <a:off x="2283189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9" name="Google Shape;219;p19"/>
          <p:cNvSpPr/>
          <p:nvPr/>
        </p:nvSpPr>
        <p:spPr>
          <a:xfrm rot="-5400000">
            <a:off x="2501051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image and CTA">
  <p:cSld name="CUSTOM_4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  <a:effectLst/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type="body" idx="1"/>
          </p:nvPr>
        </p:nvSpPr>
        <p:spPr>
          <a:xfrm>
            <a:off x="230900" y="2443800"/>
            <a:ext cx="1458300" cy="35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2" name="Google Shape;222;p20"/>
          <p:cNvSpPr/>
          <p:nvPr>
            <p:ph type="pic" idx="2"/>
          </p:nvPr>
        </p:nvSpPr>
        <p:spPr>
          <a:xfrm>
            <a:off x="5303800" y="881700"/>
            <a:ext cx="3611400" cy="4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0"/>
          <p:cNvSpPr txBox="1"/>
          <p:nvPr>
            <p:ph type="title" hasCustomPrompt="1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4" name="Google Shape;224;p20"/>
          <p:cNvSpPr txBox="1"/>
          <p:nvPr>
            <p:ph type="title" idx="3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5" name="Google Shape;225;p20"/>
          <p:cNvSpPr txBox="1"/>
          <p:nvPr>
            <p:ph type="subTitle" idx="4"/>
          </p:nvPr>
        </p:nvSpPr>
        <p:spPr>
          <a:xfrm>
            <a:off x="230900" y="1660325"/>
            <a:ext cx="4404300" cy="36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None/>
              <a:defRPr sz="1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BLANK_1_1_1_1_1_1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>
            <p:ph type="pic" idx="2"/>
          </p:nvPr>
        </p:nvSpPr>
        <p:spPr>
          <a:xfrm>
            <a:off x="2286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1"/>
          <p:cNvSpPr/>
          <p:nvPr>
            <p:ph type="pic" idx="3"/>
          </p:nvPr>
        </p:nvSpPr>
        <p:spPr>
          <a:xfrm>
            <a:off x="318525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1"/>
          <p:cNvSpPr/>
          <p:nvPr>
            <p:ph type="pic" idx="4"/>
          </p:nvPr>
        </p:nvSpPr>
        <p:spPr>
          <a:xfrm>
            <a:off x="61419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1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1" name="Google Shape;231;p21"/>
          <p:cNvSpPr txBox="1"/>
          <p:nvPr>
            <p:ph type="body" idx="1"/>
          </p:nvPr>
        </p:nvSpPr>
        <p:spPr>
          <a:xfrm>
            <a:off x="228600" y="3513725"/>
            <a:ext cx="2773500" cy="130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9pPr>
          </a:lstStyle>
          <a:p/>
        </p:txBody>
      </p:sp>
      <p:sp>
        <p:nvSpPr>
          <p:cNvPr id="232" name="Google Shape;232;p21"/>
          <p:cNvSpPr txBox="1"/>
          <p:nvPr>
            <p:ph type="body" idx="5"/>
          </p:nvPr>
        </p:nvSpPr>
        <p:spPr>
          <a:xfrm>
            <a:off x="3185250" y="3513725"/>
            <a:ext cx="2773500" cy="130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9pPr>
          </a:lstStyle>
          <a:p/>
        </p:txBody>
      </p:sp>
      <p:sp>
        <p:nvSpPr>
          <p:cNvPr id="233" name="Google Shape;233;p21"/>
          <p:cNvSpPr txBox="1"/>
          <p:nvPr>
            <p:ph type="body" idx="6"/>
          </p:nvPr>
        </p:nvSpPr>
        <p:spPr>
          <a:xfrm>
            <a:off x="6141900" y="3513725"/>
            <a:ext cx="2773500" cy="130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/>
            </a:lvl9pPr>
          </a:lstStyle>
          <a:p/>
        </p:txBody>
      </p:sp>
      <p:sp>
        <p:nvSpPr>
          <p:cNvPr id="234" name="Google Shape;234;p21"/>
          <p:cNvSpPr txBox="1"/>
          <p:nvPr>
            <p:ph type="subTitle" idx="7"/>
          </p:nvPr>
        </p:nvSpPr>
        <p:spPr>
          <a:xfrm>
            <a:off x="228600" y="3224050"/>
            <a:ext cx="2773500" cy="23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5" name="Google Shape;235;p21"/>
          <p:cNvSpPr txBox="1"/>
          <p:nvPr>
            <p:ph type="subTitle" idx="8"/>
          </p:nvPr>
        </p:nvSpPr>
        <p:spPr>
          <a:xfrm>
            <a:off x="3185250" y="3224050"/>
            <a:ext cx="2773500" cy="23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6" name="Google Shape;236;p21"/>
          <p:cNvSpPr txBox="1"/>
          <p:nvPr>
            <p:ph type="subTitle" idx="9"/>
          </p:nvPr>
        </p:nvSpPr>
        <p:spPr>
          <a:xfrm>
            <a:off x="6141900" y="3224050"/>
            <a:ext cx="2773500" cy="23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" name="Google Shape;239;p2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" name="Google Shape;245;p24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8" name="Google Shape;248;p25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1" name="Google Shape;251;p26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26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7" name="Google Shape;257;p28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0"/>
          <p:cNvSpPr txBox="1"/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0"/>
          <p:cNvSpPr txBox="1"/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3" name="Google Shape;263;p30"/>
          <p:cNvSpPr txBox="1"/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30"/>
          <p:cNvSpPr txBox="1"/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30"/>
          <p:cNvSpPr txBox="1"/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30"/>
          <p:cNvSpPr txBox="1"/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31"/>
          <p:cNvSpPr txBox="1"/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31"/>
          <p:cNvSpPr txBox="1"/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31"/>
          <p:cNvSpPr txBox="1"/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32"/>
          <p:cNvSpPr txBox="1"/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7" name="Google Shape;277;p32"/>
          <p:cNvSpPr txBox="1"/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32"/>
          <p:cNvSpPr txBox="1"/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" name="Google Shape;279;p32"/>
          <p:cNvSpPr txBox="1"/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2"/>
          <p:cNvSpPr txBox="1"/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33"/>
          <p:cNvSpPr txBox="1"/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33"/>
          <p:cNvSpPr txBox="1"/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33"/>
          <p:cNvSpPr txBox="1"/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p33"/>
          <p:cNvSpPr txBox="1"/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33"/>
          <p:cNvSpPr txBox="1"/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3"/>
          <p:cNvSpPr txBox="1"/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3"/>
          <p:cNvSpPr txBox="1"/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4"/>
          <p:cNvSpPr/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35"/>
          <p:cNvSpPr/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35"/>
          <p:cNvSpPr txBox="1"/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5"/>
          <p:cNvSpPr txBox="1"/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37"/>
          <p:cNvSpPr/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7"/>
          <p:cNvSpPr/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7"/>
          <p:cNvSpPr/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7"/>
          <p:cNvSpPr/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37"/>
          <p:cNvSpPr/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7"/>
          <p:cNvSpPr/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7"/>
          <p:cNvSpPr/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37"/>
          <p:cNvSpPr/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7" Type="http://schemas.openxmlformats.org/officeDocument/2006/relationships/theme" Target="../theme/theme1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88025" y="635200"/>
            <a:ext cx="5802000" cy="22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Space Grotesk"/>
              <a:buNone/>
              <a:defRPr sz="4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611950" y="2966800"/>
            <a:ext cx="4547100" cy="16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●"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○"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 panose="02000000000000000000"/>
              <a:buChar char="■"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9.xml"/><Relationship Id="rId1" Type="http://schemas.openxmlformats.org/officeDocument/2006/relationships/hyperlink" Target="https://youtube.com/shorts/50mLQ32qirM?feature=share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type="title"/>
          </p:nvPr>
        </p:nvSpPr>
        <p:spPr>
          <a:xfrm>
            <a:off x="-799050" y="596850"/>
            <a:ext cx="10742100" cy="15591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2900">
                <a:latin typeface="Lexend ExtraBold"/>
                <a:ea typeface="Lexend ExtraBold"/>
                <a:cs typeface="Lexend ExtraBold"/>
                <a:sym typeface="Lexend ExtraBold"/>
              </a:rPr>
              <a:t>EcoBot: The Smart Garbage Collection Robot</a:t>
            </a:r>
            <a:endParaRPr sz="2900"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endParaRPr sz="7600"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sp>
        <p:nvSpPr>
          <p:cNvPr id="320" name="Google Shape;320;p38"/>
          <p:cNvSpPr txBox="1"/>
          <p:nvPr/>
        </p:nvSpPr>
        <p:spPr>
          <a:xfrm>
            <a:off x="410950" y="1534975"/>
            <a:ext cx="7634400" cy="22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Muhammad yasser alali </a:t>
            </a: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200047921</a:t>
            </a: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Dr. Mohammed Marei</a:t>
            </a:r>
            <a:br>
              <a:rPr lang="en-GB" sz="27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27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Eng. Ahmed Abdellatif</a:t>
            </a: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9"/>
          <p:cNvSpPr txBox="1"/>
          <p:nvPr/>
        </p:nvSpPr>
        <p:spPr>
          <a:xfrm>
            <a:off x="541125" y="251800"/>
            <a:ext cx="7990200" cy="43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3200" b="1" u="sng">
                <a:solidFill>
                  <a:schemeClr val="lt1"/>
                </a:solidFill>
              </a:rPr>
              <a:t>Introduction &amp; Objective</a:t>
            </a:r>
            <a:endParaRPr sz="3200" b="1" u="sng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lt1"/>
                </a:solidFill>
              </a:rPr>
              <a:t>What is the project?</a:t>
            </a:r>
            <a:endParaRPr sz="2400" b="1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"EcoBot" is a prototype of a wireless-controlled mobile robot, equipped with a 4-Axis Robotic Arm.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lt1"/>
                </a:solidFill>
              </a:rPr>
              <a:t>How does it work?</a:t>
            </a:r>
            <a:endParaRPr sz="2400" b="1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The robot is fully controlled (for both movement and the arm) using PS5 controller via Bluetooth.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lt1"/>
                </a:solidFill>
              </a:rPr>
              <a:t>The Goal?</a:t>
            </a:r>
            <a:endParaRPr sz="2400" b="1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The objective is to provide a technical solution to help preserve the environment by designing an automated (smart) system capable of collecting waste and garbage from public spaces.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0" name="Google Shape;330;p40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31" name="Google Shape;331;p40" title="61UJAXltKKL._AC_SL1440_.jp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38175" y="1235800"/>
            <a:ext cx="1617600" cy="1480323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0"/>
          <p:cNvSpPr txBox="1"/>
          <p:nvPr/>
        </p:nvSpPr>
        <p:spPr>
          <a:xfrm>
            <a:off x="605825" y="219450"/>
            <a:ext cx="39141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lt1"/>
                </a:solidFill>
              </a:rPr>
              <a:t>Hardware Components:</a:t>
            </a:r>
            <a:endParaRPr sz="23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6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33" name="Google Shape;333;p40"/>
          <p:cNvSpPr txBox="1"/>
          <p:nvPr/>
        </p:nvSpPr>
        <p:spPr>
          <a:xfrm>
            <a:off x="589725" y="747750"/>
            <a:ext cx="1714500" cy="388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Main Controller:</a:t>
            </a:r>
            <a:endParaRPr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34" name="Google Shape;334;p40"/>
          <p:cNvSpPr txBox="1"/>
          <p:nvPr/>
        </p:nvSpPr>
        <p:spPr>
          <a:xfrm>
            <a:off x="638175" y="3023050"/>
            <a:ext cx="1617600" cy="14019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lt1"/>
                </a:solidFill>
              </a:rPr>
              <a:t>ESP32</a:t>
            </a:r>
            <a:r>
              <a:rPr lang="en-GB" sz="1500">
                <a:solidFill>
                  <a:schemeClr val="lt1"/>
                </a:solidFill>
              </a:rPr>
              <a:t> Board (for Bluetooth and logic control).</a:t>
            </a:r>
            <a:endParaRPr sz="15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4222750" y="748665"/>
            <a:ext cx="1617345" cy="38735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Robotic Arm:</a:t>
            </a:r>
            <a:endParaRPr b="1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</a:endParaRPr>
          </a:p>
        </p:txBody>
      </p:sp>
      <p:pic>
        <p:nvPicPr>
          <p:cNvPr id="336" name="Google Shape;336;p40" title="rarm_2048x.jp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590050" y="1235800"/>
            <a:ext cx="1480324" cy="14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0" title="61pF2VGDYZL._AC_SL1500_.jp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222775" y="1240050"/>
            <a:ext cx="1714501" cy="1480326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0"/>
          <p:cNvSpPr txBox="1"/>
          <p:nvPr/>
        </p:nvSpPr>
        <p:spPr>
          <a:xfrm>
            <a:off x="4222775" y="3023050"/>
            <a:ext cx="1617600" cy="14019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 b="1">
                <a:solidFill>
                  <a:schemeClr val="lt1"/>
                </a:solidFill>
              </a:rPr>
              <a:t>4 Servo Motors</a:t>
            </a:r>
            <a:r>
              <a:rPr lang="en-GB" sz="1500">
                <a:solidFill>
                  <a:schemeClr val="lt1"/>
                </a:solidFill>
              </a:rPr>
              <a:t> (Base, Shoulder, Elbow, Gripper)</a:t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339" name="Google Shape;339;p40" title="51kLQ1YI-lL._AC_SL1000_.jp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186725" y="1240050"/>
            <a:ext cx="1714500" cy="1439642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0"/>
          <p:cNvSpPr txBox="1"/>
          <p:nvPr/>
        </p:nvSpPr>
        <p:spPr>
          <a:xfrm>
            <a:off x="6385525" y="2969125"/>
            <a:ext cx="1434000" cy="14019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PCA9685</a:t>
            </a:r>
            <a:r>
              <a:rPr lang="en-GB">
                <a:solidFill>
                  <a:schemeClr val="lt1"/>
                </a:solidFill>
              </a:rPr>
              <a:t> 16-Channel Servo Driver (for precise control via I2C).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41" name="Google Shape;341;p40"/>
          <p:cNvSpPr txBox="1"/>
          <p:nvPr/>
        </p:nvSpPr>
        <p:spPr>
          <a:xfrm>
            <a:off x="2546850" y="2990700"/>
            <a:ext cx="1480200" cy="13371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19050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E8EAED"/>
                </a:solidFill>
              </a:rPr>
              <a:t>Robot arm</a:t>
            </a:r>
            <a:endParaRPr sz="1600">
              <a:solidFill>
                <a:srgbClr val="E8EAED"/>
              </a:solidFill>
            </a:endParaRPr>
          </a:p>
          <a:p>
            <a:pPr marL="152400" marR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rgbClr val="E8E8E8"/>
              </a:solidFill>
              <a:highlight>
                <a:srgbClr val="303134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1"/>
          <p:cNvSpPr txBox="1"/>
          <p:nvPr>
            <p:ph type="title"/>
          </p:nvPr>
        </p:nvSpPr>
        <p:spPr>
          <a:xfrm>
            <a:off x="228600" y="-71700"/>
            <a:ext cx="3676800" cy="9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23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Hardware Components:</a:t>
            </a:r>
            <a:endParaRPr sz="2300" b="1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</a:p>
        </p:txBody>
      </p:sp>
      <p:sp>
        <p:nvSpPr>
          <p:cNvPr id="347" name="Google Shape;347;p41"/>
          <p:cNvSpPr txBox="1"/>
          <p:nvPr/>
        </p:nvSpPr>
        <p:spPr>
          <a:xfrm>
            <a:off x="379375" y="789275"/>
            <a:ext cx="1876200" cy="377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Drive System:</a:t>
            </a:r>
            <a:endParaRPr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348" name="Google Shape;348;p41" title="Screenshot 2025-11-03 224306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28588" y="1277688"/>
            <a:ext cx="1939525" cy="209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1"/>
          <p:cNvSpPr txBox="1"/>
          <p:nvPr/>
        </p:nvSpPr>
        <p:spPr>
          <a:xfrm>
            <a:off x="228600" y="3483050"/>
            <a:ext cx="1939500" cy="1229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4 DC Motors</a:t>
            </a:r>
            <a:r>
              <a:rPr lang="en-GB">
                <a:solidFill>
                  <a:schemeClr val="lt1"/>
                </a:solidFill>
              </a:rPr>
              <a:t> (wired as pairs).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L298N</a:t>
            </a:r>
            <a:r>
              <a:rPr lang="en-GB">
                <a:solidFill>
                  <a:schemeClr val="lt1"/>
                </a:solidFill>
              </a:rPr>
              <a:t> Motor Driver.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50" name="Google Shape;350;p41"/>
          <p:cNvSpPr txBox="1"/>
          <p:nvPr/>
        </p:nvSpPr>
        <p:spPr>
          <a:xfrm>
            <a:off x="5264050" y="595200"/>
            <a:ext cx="1488000" cy="377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Power System:</a:t>
            </a:r>
            <a:endParaRPr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351" name="Google Shape;351;p41" title="31P88xnpSNL._AC_SX522_.jp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670938" y="1277688"/>
            <a:ext cx="1995000" cy="209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1" title="613x0sYjkUL._SL1500_.jp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653650" y="1247725"/>
            <a:ext cx="1995000" cy="215425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1"/>
          <p:cNvSpPr txBox="1"/>
          <p:nvPr/>
        </p:nvSpPr>
        <p:spPr>
          <a:xfrm>
            <a:off x="2577000" y="3483200"/>
            <a:ext cx="1995000" cy="1229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Main Battery (</a:t>
            </a:r>
            <a:r>
              <a:rPr lang="en-US" altLang="en-GB" b="1">
                <a:solidFill>
                  <a:schemeClr val="lt1"/>
                </a:solidFill>
              </a:rPr>
              <a:t>11</a:t>
            </a:r>
            <a:r>
              <a:rPr lang="en-GB" b="1">
                <a:solidFill>
                  <a:schemeClr val="lt1"/>
                </a:solidFill>
              </a:rPr>
              <a:t>V LiPo):</a:t>
            </a:r>
            <a:r>
              <a:rPr lang="en-GB">
                <a:solidFill>
                  <a:schemeClr val="lt1"/>
                </a:solidFill>
              </a:rPr>
              <a:t> Powers the Motors (L298N) and the ESP32.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54" name="Google Shape;354;p41"/>
          <p:cNvSpPr txBox="1"/>
          <p:nvPr/>
        </p:nvSpPr>
        <p:spPr>
          <a:xfrm>
            <a:off x="4714150" y="3483200"/>
            <a:ext cx="1939500" cy="1229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Secondary Battery (</a:t>
            </a:r>
            <a:r>
              <a:rPr lang="en-US" altLang="en-GB" b="1">
                <a:solidFill>
                  <a:schemeClr val="lt1"/>
                </a:solidFill>
              </a:rPr>
              <a:t>7.4</a:t>
            </a:r>
            <a:r>
              <a:rPr lang="en-GB" b="1">
                <a:solidFill>
                  <a:schemeClr val="lt1"/>
                </a:solidFill>
              </a:rPr>
              <a:t>V):</a:t>
            </a:r>
            <a:r>
              <a:rPr lang="en-GB">
                <a:solidFill>
                  <a:schemeClr val="lt1"/>
                </a:solidFill>
              </a:rPr>
              <a:t> Powers the Servo Driver (PCA9685) only.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55" name="Google Shape;355;p41"/>
          <p:cNvSpPr txBox="1"/>
          <p:nvPr/>
        </p:nvSpPr>
        <p:spPr>
          <a:xfrm>
            <a:off x="6796675" y="3483200"/>
            <a:ext cx="1939500" cy="1229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lt1"/>
                </a:solidFill>
              </a:rPr>
              <a:t>Buck Converter:</a:t>
            </a:r>
            <a:r>
              <a:rPr lang="en-GB" sz="1300">
                <a:solidFill>
                  <a:schemeClr val="lt1"/>
                </a:solidFill>
              </a:rPr>
              <a:t> Steps down the main 7.4V to a clean 5V for the ESP32 and L298N logic.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2"/>
          <p:cNvSpPr txBox="1"/>
          <p:nvPr/>
        </p:nvSpPr>
        <p:spPr>
          <a:xfrm>
            <a:off x="1263575" y="1017375"/>
            <a:ext cx="2124300" cy="442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lt1"/>
                </a:solidFill>
              </a:rPr>
              <a:t>Control System:</a:t>
            </a:r>
            <a:endParaRPr sz="15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61" name="Google Shape;361;p42"/>
          <p:cNvSpPr txBox="1"/>
          <p:nvPr/>
        </p:nvSpPr>
        <p:spPr>
          <a:xfrm>
            <a:off x="454850" y="208675"/>
            <a:ext cx="47661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lt1"/>
                </a:solidFill>
              </a:rPr>
              <a:t>Hardware Components:</a:t>
            </a:r>
            <a:endParaRPr sz="23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362" name="Google Shape;362;p42" title="61tpbGZhxBL._AC_SL1500_.jpg"/>
          <p:cNvPicPr preferRelativeResize="0"/>
          <p:nvPr/>
        </p:nvPicPr>
        <p:blipFill rotWithShape="1">
          <a:blip r:embed="rId1"/>
          <a:srcRect l="22588" b="22462"/>
          <a:stretch>
            <a:fillRect/>
          </a:stretch>
        </p:blipFill>
        <p:spPr>
          <a:xfrm>
            <a:off x="1046287" y="1535075"/>
            <a:ext cx="2558876" cy="170365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pic>
      <p:sp>
        <p:nvSpPr>
          <p:cNvPr id="363" name="Google Shape;363;p42"/>
          <p:cNvSpPr txBox="1"/>
          <p:nvPr/>
        </p:nvSpPr>
        <p:spPr>
          <a:xfrm>
            <a:off x="1333625" y="3465150"/>
            <a:ext cx="1984200" cy="948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</a:rPr>
              <a:t>PS5 Controller</a:t>
            </a:r>
            <a:r>
              <a:rPr lang="en-GB" sz="1600">
                <a:solidFill>
                  <a:schemeClr val="lt1"/>
                </a:solidFill>
              </a:rPr>
              <a:t>: </a:t>
            </a:r>
            <a:r>
              <a:rPr lang="en-GB">
                <a:solidFill>
                  <a:srgbClr val="FF0000"/>
                </a:solidFill>
              </a:rPr>
              <a:t>Just for operating experience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64" name="Google Shape;364;p42"/>
          <p:cNvSpPr txBox="1"/>
          <p:nvPr/>
        </p:nvSpPr>
        <p:spPr>
          <a:xfrm>
            <a:off x="5512075" y="1017375"/>
            <a:ext cx="1682100" cy="377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</a:rPr>
              <a:t>Chassis: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365" name="Google Shape;365;p42" title="61ZVsiJlexL._AC_SL1000_.jp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073687" y="1567325"/>
            <a:ext cx="2558876" cy="1639151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2"/>
          <p:cNvSpPr txBox="1"/>
          <p:nvPr/>
        </p:nvSpPr>
        <p:spPr>
          <a:xfrm>
            <a:off x="5134675" y="3465150"/>
            <a:ext cx="2436900" cy="9489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Custom-built wooden chassis.</a:t>
            </a:r>
            <a:endParaRPr sz="16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87400" y="960120"/>
            <a:ext cx="3286125" cy="3702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vert="eaVert" wrap="square" rtlCol="0">
            <a:noAutofit/>
          </a:bodyPr>
          <a:p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3"/>
          <p:cNvSpPr txBox="1"/>
          <p:nvPr/>
        </p:nvSpPr>
        <p:spPr>
          <a:xfrm>
            <a:off x="573475" y="154750"/>
            <a:ext cx="8270400" cy="47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2700" b="1">
                <a:solidFill>
                  <a:schemeClr val="lt1"/>
                </a:solidFill>
              </a:rPr>
              <a:t>System Architecture:</a:t>
            </a:r>
            <a:endParaRPr sz="2700" b="1">
              <a:solidFill>
                <a:schemeClr val="lt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 b="1">
                <a:solidFill>
                  <a:schemeClr val="lt1"/>
                </a:solidFill>
              </a:rPr>
              <a:t>Power Distribution:</a:t>
            </a:r>
            <a:endParaRPr sz="1500" b="1">
              <a:solidFill>
                <a:schemeClr val="lt1"/>
              </a:solidFill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-GB" sz="1500" b="1">
                <a:solidFill>
                  <a:schemeClr val="lt1"/>
                </a:solidFill>
              </a:rPr>
              <a:t>11V Battery</a:t>
            </a:r>
            <a:r>
              <a:rPr lang="en-GB" sz="1500">
                <a:solidFill>
                  <a:schemeClr val="lt1"/>
                </a:solidFill>
              </a:rPr>
              <a:t> → Feeds the </a:t>
            </a:r>
            <a:r>
              <a:rPr lang="en-GB" sz="1500" b="1">
                <a:solidFill>
                  <a:schemeClr val="lt1"/>
                </a:solidFill>
              </a:rPr>
              <a:t>L298N (VMS)</a:t>
            </a:r>
            <a:r>
              <a:rPr lang="en-GB" sz="1500">
                <a:solidFill>
                  <a:schemeClr val="lt1"/>
                </a:solidFill>
              </a:rPr>
              <a:t> and the </a:t>
            </a:r>
            <a:r>
              <a:rPr lang="en-GB" sz="1500" b="1">
                <a:solidFill>
                  <a:schemeClr val="lt1"/>
                </a:solidFill>
              </a:rPr>
              <a:t>Buck Converter (IN)</a:t>
            </a:r>
            <a:r>
              <a:rPr lang="en-GB" sz="1500">
                <a:solidFill>
                  <a:schemeClr val="lt1"/>
                </a:solidFill>
              </a:rPr>
              <a:t>.</a:t>
            </a:r>
            <a:endParaRPr sz="1500">
              <a:solidFill>
                <a:schemeClr val="lt1"/>
              </a:solidFill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-GB" sz="1500" b="1">
                <a:solidFill>
                  <a:schemeClr val="lt1"/>
                </a:solidFill>
              </a:rPr>
              <a:t>7.4V Battery</a:t>
            </a:r>
            <a:r>
              <a:rPr lang="en-GB" sz="1500">
                <a:solidFill>
                  <a:schemeClr val="lt1"/>
                </a:solidFill>
              </a:rPr>
              <a:t> → Feeds the </a:t>
            </a:r>
            <a:r>
              <a:rPr lang="en-GB" sz="1500" b="1">
                <a:solidFill>
                  <a:schemeClr val="lt1"/>
                </a:solidFill>
              </a:rPr>
              <a:t>PCA9685 (V+)</a:t>
            </a:r>
            <a:r>
              <a:rPr lang="en-GB" sz="1500">
                <a:solidFill>
                  <a:schemeClr val="lt1"/>
                </a:solidFill>
              </a:rPr>
              <a:t> (Servo power).</a:t>
            </a:r>
            <a:endParaRPr sz="1500">
              <a:solidFill>
                <a:schemeClr val="lt1"/>
              </a:solidFill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-GB" sz="1500" b="1">
                <a:solidFill>
                  <a:schemeClr val="lt1"/>
                </a:solidFill>
              </a:rPr>
              <a:t>Buck Converter (5V OUT)</a:t>
            </a:r>
            <a:r>
              <a:rPr lang="en-GB" sz="1500">
                <a:solidFill>
                  <a:schemeClr val="lt1"/>
                </a:solidFill>
              </a:rPr>
              <a:t> → Feeds the </a:t>
            </a:r>
            <a:r>
              <a:rPr lang="en-GB" sz="1500" b="1">
                <a:solidFill>
                  <a:schemeClr val="lt1"/>
                </a:solidFill>
              </a:rPr>
              <a:t>ESP32 (5V)</a:t>
            </a:r>
            <a:r>
              <a:rPr lang="en-GB" sz="1500">
                <a:solidFill>
                  <a:schemeClr val="lt1"/>
                </a:solidFill>
              </a:rPr>
              <a:t>, the </a:t>
            </a:r>
            <a:r>
              <a:rPr lang="en-GB" sz="1500" b="1">
                <a:solidFill>
                  <a:schemeClr val="lt1"/>
                </a:solidFill>
              </a:rPr>
              <a:t>L298N (5V Logic)</a:t>
            </a:r>
            <a:r>
              <a:rPr lang="en-GB" sz="1500">
                <a:solidFill>
                  <a:schemeClr val="lt1"/>
                </a:solidFill>
              </a:rPr>
              <a:t>, and the </a:t>
            </a:r>
            <a:r>
              <a:rPr lang="en-GB" sz="1500" b="1">
                <a:solidFill>
                  <a:schemeClr val="lt1"/>
                </a:solidFill>
              </a:rPr>
              <a:t>PCA9685 (5V)</a:t>
            </a:r>
            <a:r>
              <a:rPr lang="en-GB" sz="1500">
                <a:solidFill>
                  <a:schemeClr val="lt1"/>
                </a:solidFill>
              </a:rPr>
              <a:t> (Logic power).</a:t>
            </a:r>
            <a:endParaRPr sz="1500">
              <a:solidFill>
                <a:schemeClr val="lt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 b="1">
                <a:solidFill>
                  <a:schemeClr val="lt1"/>
                </a:solidFill>
              </a:rPr>
              <a:t>Common Ground (GND):</a:t>
            </a:r>
            <a:endParaRPr sz="1500" b="1">
              <a:solidFill>
                <a:schemeClr val="lt1"/>
              </a:solidFill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-GB" sz="1500">
                <a:solidFill>
                  <a:schemeClr val="lt1"/>
                </a:solidFill>
              </a:rPr>
              <a:t>All GNDs (Both Batteries, Buck, ESP32, L298N, PCA9685) </a:t>
            </a:r>
            <a:r>
              <a:rPr lang="en-GB" sz="1500" b="1">
                <a:solidFill>
                  <a:schemeClr val="lt1"/>
                </a:solidFill>
              </a:rPr>
              <a:t>must</a:t>
            </a:r>
            <a:r>
              <a:rPr lang="en-GB" sz="1500">
                <a:solidFill>
                  <a:schemeClr val="lt1"/>
                </a:solidFill>
              </a:rPr>
              <a:t> be connected together.</a:t>
            </a:r>
            <a:endParaRPr sz="1500">
              <a:solidFill>
                <a:schemeClr val="lt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 b="1">
                <a:solidFill>
                  <a:schemeClr val="lt1"/>
                </a:solidFill>
              </a:rPr>
              <a:t>Control Signals (ESP32):</a:t>
            </a:r>
            <a:endParaRPr sz="1500" b="1">
              <a:solidFill>
                <a:schemeClr val="lt1"/>
              </a:solidFill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-GB" sz="1500" b="1">
                <a:solidFill>
                  <a:schemeClr val="lt1"/>
                </a:solidFill>
              </a:rPr>
              <a:t>L298N (Left):</a:t>
            </a:r>
            <a:r>
              <a:rPr lang="en-GB" sz="1500">
                <a:solidFill>
                  <a:schemeClr val="lt1"/>
                </a:solidFill>
              </a:rPr>
              <a:t> </a:t>
            </a:r>
            <a:r>
              <a:rPr lang="en-GB" sz="1500">
                <a:solidFill>
                  <a:schemeClr val="lt1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GPIO 16, 17, 18</a:t>
            </a:r>
            <a:r>
              <a:rPr lang="en-GB" sz="1500">
                <a:solidFill>
                  <a:schemeClr val="lt1"/>
                </a:solidFill>
              </a:rPr>
              <a:t> .</a:t>
            </a:r>
            <a:endParaRPr sz="1500">
              <a:solidFill>
                <a:schemeClr val="lt1"/>
              </a:solidFill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-GB" sz="1500" b="1">
                <a:solidFill>
                  <a:schemeClr val="lt1"/>
                </a:solidFill>
              </a:rPr>
              <a:t>L298N (Right):</a:t>
            </a:r>
            <a:r>
              <a:rPr lang="en-GB" sz="1500">
                <a:solidFill>
                  <a:schemeClr val="lt1"/>
                </a:solidFill>
              </a:rPr>
              <a:t> </a:t>
            </a:r>
            <a:r>
              <a:rPr lang="en-GB" sz="1500">
                <a:solidFill>
                  <a:schemeClr val="lt1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GPIO 5, 13, 14</a:t>
            </a:r>
            <a:r>
              <a:rPr lang="en-GB" sz="1500">
                <a:solidFill>
                  <a:schemeClr val="lt1"/>
                </a:solidFill>
              </a:rPr>
              <a:t> .</a:t>
            </a:r>
            <a:endParaRPr sz="1500">
              <a:solidFill>
                <a:schemeClr val="lt1"/>
              </a:solidFill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-GB" sz="1500" b="1">
                <a:solidFill>
                  <a:schemeClr val="lt1"/>
                </a:solidFill>
              </a:rPr>
              <a:t>PCA9685 (I2C):</a:t>
            </a:r>
            <a:r>
              <a:rPr lang="en-GB" sz="1500">
                <a:solidFill>
                  <a:schemeClr val="lt1"/>
                </a:solidFill>
              </a:rPr>
              <a:t> </a:t>
            </a:r>
            <a:r>
              <a:rPr lang="en-GB" sz="1500">
                <a:solidFill>
                  <a:schemeClr val="lt1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GPIO 4 (SDA), 15 (SCL)</a:t>
            </a:r>
            <a:r>
              <a:rPr lang="en-GB" sz="1500">
                <a:solidFill>
                  <a:schemeClr val="lt1"/>
                </a:solidFill>
              </a:rPr>
              <a:t>.</a:t>
            </a:r>
            <a:endParaRPr sz="28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4"/>
          <p:cNvSpPr txBox="1"/>
          <p:nvPr/>
        </p:nvSpPr>
        <p:spPr>
          <a:xfrm>
            <a:off x="260750" y="165550"/>
            <a:ext cx="8529300" cy="47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chemeClr val="lt1"/>
                </a:solidFill>
              </a:rPr>
              <a:t>Software &amp; Technologies</a:t>
            </a:r>
            <a:endParaRPr sz="2800" b="1"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 b="1">
                <a:solidFill>
                  <a:schemeClr val="lt1"/>
                </a:solidFill>
              </a:rPr>
              <a:t>IDE:</a:t>
            </a:r>
            <a:r>
              <a:rPr lang="en-GB" sz="1600">
                <a:solidFill>
                  <a:schemeClr val="lt1"/>
                </a:solidFill>
              </a:rPr>
              <a:t> Arduino IDE (C++).</a:t>
            </a:r>
            <a:endParaRPr sz="1600"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 b="1">
                <a:solidFill>
                  <a:schemeClr val="lt1"/>
                </a:solidFill>
              </a:rPr>
              <a:t>Board Package:</a:t>
            </a:r>
            <a:endParaRPr sz="1600" b="1">
              <a:solidFill>
                <a:schemeClr val="lt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en-GB" sz="1700" b="1" u="sng">
                <a:solidFill>
                  <a:srgbClr val="CCCCCC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esp32_bluepad32</a:t>
            </a:r>
            <a:r>
              <a:rPr lang="en-GB" sz="1600">
                <a:solidFill>
                  <a:srgbClr val="CCCCCC"/>
                </a:solidFill>
              </a:rPr>
              <a:t> </a:t>
            </a:r>
            <a:r>
              <a:rPr lang="en-GB" sz="1600">
                <a:solidFill>
                  <a:schemeClr val="lt1"/>
                </a:solidFill>
              </a:rPr>
              <a:t>(Required for stable PS5 controller support).</a:t>
            </a:r>
            <a:endParaRPr sz="1600"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 b="1">
                <a:solidFill>
                  <a:schemeClr val="lt1"/>
                </a:solidFill>
              </a:rPr>
              <a:t>Wireless Control:</a:t>
            </a:r>
            <a:endParaRPr sz="1600" b="1">
              <a:solidFill>
                <a:schemeClr val="lt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en-GB" sz="1700" b="1" u="sng">
                <a:solidFill>
                  <a:srgbClr val="CCCCCC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Bluepad32</a:t>
            </a:r>
            <a:r>
              <a:rPr lang="en-GB" sz="1700" b="1" u="sng">
                <a:solidFill>
                  <a:srgbClr val="CCCCCC"/>
                </a:solidFill>
              </a:rPr>
              <a:t> Library</a:t>
            </a:r>
            <a:r>
              <a:rPr lang="en-GB" sz="1600">
                <a:solidFill>
                  <a:srgbClr val="CCCCCC"/>
                </a:solidFill>
              </a:rPr>
              <a:t> </a:t>
            </a:r>
            <a:r>
              <a:rPr lang="en-GB" sz="1600">
                <a:solidFill>
                  <a:schemeClr val="lt1"/>
                </a:solidFill>
              </a:rPr>
              <a:t>(Connects to PS5 and handles virtual devices).</a:t>
            </a:r>
            <a:endParaRPr sz="1600"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 b="1">
                <a:solidFill>
                  <a:schemeClr val="lt1"/>
                </a:solidFill>
              </a:rPr>
              <a:t>Motor Control (L298N):</a:t>
            </a:r>
            <a:endParaRPr sz="1600" b="1">
              <a:solidFill>
                <a:schemeClr val="lt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en-GB" sz="1700" b="1" u="sng">
                <a:solidFill>
                  <a:srgbClr val="CCCCCC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ledcSetup/ledcAttachPin</a:t>
            </a:r>
            <a:r>
              <a:rPr lang="en-GB" sz="1700" b="1" u="sng">
                <a:solidFill>
                  <a:srgbClr val="CCCCCC"/>
                </a:solidFill>
              </a:rPr>
              <a:t> </a:t>
            </a:r>
            <a:r>
              <a:rPr lang="en-GB" sz="1600">
                <a:solidFill>
                  <a:schemeClr val="lt1"/>
                </a:solidFill>
              </a:rPr>
              <a:t>for precise PWM speed control (at 5KHz).</a:t>
            </a:r>
            <a:endParaRPr sz="1600"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 b="1">
                <a:solidFill>
                  <a:schemeClr val="lt1"/>
                </a:solidFill>
              </a:rPr>
              <a:t>Arm Control (PCA9685):</a:t>
            </a:r>
            <a:endParaRPr sz="1600" b="1">
              <a:solidFill>
                <a:schemeClr val="lt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en-GB" sz="1700" b="1" u="sng">
                <a:solidFill>
                  <a:srgbClr val="CCCCCC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Wire.h</a:t>
            </a:r>
            <a:r>
              <a:rPr lang="en-GB" sz="1600">
                <a:solidFill>
                  <a:srgbClr val="CCCCCC"/>
                </a:solidFill>
              </a:rPr>
              <a:t> </a:t>
            </a:r>
            <a:r>
              <a:rPr lang="en-GB" sz="1600">
                <a:solidFill>
                  <a:schemeClr val="lt1"/>
                </a:solidFill>
              </a:rPr>
              <a:t>(I2C Protocol).</a:t>
            </a:r>
            <a:endParaRPr sz="1600">
              <a:solidFill>
                <a:schemeClr val="lt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en-GB" sz="1700" b="1" u="sng">
                <a:solidFill>
                  <a:srgbClr val="CCCCCC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Adafruit_PWMServoDriver</a:t>
            </a:r>
            <a:r>
              <a:rPr lang="en-GB" sz="1700" b="1" u="sng">
                <a:solidFill>
                  <a:srgbClr val="CCCCCC"/>
                </a:solidFill>
              </a:rPr>
              <a:t> Library</a:t>
            </a:r>
            <a:r>
              <a:rPr lang="en-GB" sz="1600">
                <a:solidFill>
                  <a:schemeClr val="lt1"/>
                </a:solidFill>
              </a:rPr>
              <a:t> (Manages all 16 servo channels).</a:t>
            </a:r>
            <a:endParaRPr sz="1600"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 b="1">
                <a:solidFill>
                  <a:schemeClr val="lt1"/>
                </a:solidFill>
              </a:rPr>
              <a:t>Code Logic:</a:t>
            </a:r>
            <a:endParaRPr sz="1600" b="1">
              <a:solidFill>
                <a:schemeClr val="lt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en-GB" sz="1600">
                <a:solidFill>
                  <a:schemeClr val="lt1"/>
                </a:solidFill>
              </a:rPr>
              <a:t>An adaptive </a:t>
            </a:r>
            <a:r>
              <a:rPr lang="en-GB" sz="1700" b="1" u="sng">
                <a:solidFill>
                  <a:srgbClr val="CCCCCC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vTaskDelay(active ? 1 : 5)</a:t>
            </a:r>
            <a:r>
              <a:rPr lang="en-GB" sz="1600">
                <a:solidFill>
                  <a:schemeClr val="lt1"/>
                </a:solidFill>
              </a:rPr>
              <a:t> logic to balance responsiveness and system stability.</a:t>
            </a:r>
            <a:endParaRPr sz="16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0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5"/>
          <p:cNvSpPr txBox="1"/>
          <p:nvPr/>
        </p:nvSpPr>
        <p:spPr>
          <a:xfrm>
            <a:off x="206850" y="241025"/>
            <a:ext cx="85941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lt1"/>
                </a:solidFill>
              </a:rPr>
              <a:t>Control Logic:</a:t>
            </a:r>
            <a:endParaRPr sz="1800" i="1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 sz="1800" b="1">
                <a:solidFill>
                  <a:schemeClr val="lt1"/>
                </a:solidFill>
              </a:rPr>
              <a:t>Vehicle Movement:</a:t>
            </a:r>
            <a:endParaRPr sz="1800" b="1">
              <a:solidFill>
                <a:schemeClr val="lt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-GB" sz="1800" b="1">
                <a:solidFill>
                  <a:schemeClr val="lt1"/>
                </a:solidFill>
              </a:rPr>
              <a:t>Forward (Variable Speed):</a:t>
            </a:r>
            <a:r>
              <a:rPr lang="en-GB" sz="1800" b="1" u="sng">
                <a:solidFill>
                  <a:schemeClr val="lt1"/>
                </a:solidFill>
              </a:rPr>
              <a:t> </a:t>
            </a:r>
            <a:r>
              <a:rPr lang="en-GB" sz="1800" b="1" u="sng">
                <a:solidFill>
                  <a:srgbClr val="CCCCCC"/>
                </a:solidFill>
              </a:rPr>
              <a:t>Left Joystick (Up)</a:t>
            </a:r>
            <a:endParaRPr sz="1800" b="1" u="sng">
              <a:solidFill>
                <a:srgbClr val="CCCCCC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-GB" sz="1800" b="1">
                <a:solidFill>
                  <a:schemeClr val="lt1"/>
                </a:solidFill>
              </a:rPr>
              <a:t>Backward (Variable Speed):</a:t>
            </a:r>
            <a:r>
              <a:rPr lang="en-GB" sz="1800" b="1" u="sng">
                <a:solidFill>
                  <a:srgbClr val="CCCCCC"/>
                </a:solidFill>
              </a:rPr>
              <a:t> Left Joystick (Down)</a:t>
            </a:r>
            <a:endParaRPr sz="1800" b="1" u="sng">
              <a:solidFill>
                <a:srgbClr val="CCCCCC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-GB" sz="1800" b="1">
                <a:solidFill>
                  <a:schemeClr val="lt1"/>
                </a:solidFill>
              </a:rPr>
              <a:t>Spin Left (Fixed Speed):</a:t>
            </a:r>
            <a:r>
              <a:rPr lang="en-GB" sz="1800">
                <a:solidFill>
                  <a:schemeClr val="lt1"/>
                </a:solidFill>
              </a:rPr>
              <a:t> </a:t>
            </a:r>
            <a:r>
              <a:rPr lang="en-GB" sz="1800" b="1" u="sng">
                <a:solidFill>
                  <a:srgbClr val="CCCCCC"/>
                </a:solidFill>
              </a:rPr>
              <a:t>Triangle Button (△)</a:t>
            </a:r>
            <a:endParaRPr sz="1800" b="1" u="sng">
              <a:solidFill>
                <a:srgbClr val="CCCCCC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-GB" sz="1800" b="1">
                <a:solidFill>
                  <a:schemeClr val="lt1"/>
                </a:solidFill>
              </a:rPr>
              <a:t>Spin Right (Fixed Speed):</a:t>
            </a:r>
            <a:r>
              <a:rPr lang="en-GB" sz="1800">
                <a:solidFill>
                  <a:schemeClr val="lt1"/>
                </a:solidFill>
              </a:rPr>
              <a:t> </a:t>
            </a:r>
            <a:r>
              <a:rPr lang="en-GB" sz="1800" b="1" u="sng">
                <a:solidFill>
                  <a:srgbClr val="CCCCCC"/>
                </a:solidFill>
              </a:rPr>
              <a:t>Circle Button (○)</a:t>
            </a:r>
            <a:endParaRPr sz="1800" b="1" u="sng">
              <a:solidFill>
                <a:srgbClr val="CCCCCC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 sz="1800" b="1">
                <a:solidFill>
                  <a:schemeClr val="lt1"/>
                </a:solidFill>
              </a:rPr>
              <a:t>Robotic Arm:</a:t>
            </a:r>
            <a:endParaRPr sz="1800" b="1">
              <a:solidFill>
                <a:schemeClr val="lt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-GB" sz="1800" b="1">
                <a:solidFill>
                  <a:schemeClr val="lt1"/>
                </a:solidFill>
              </a:rPr>
              <a:t>Base (Left/Right):</a:t>
            </a:r>
            <a:r>
              <a:rPr lang="en-GB" sz="1800" b="1" u="sng">
                <a:solidFill>
                  <a:srgbClr val="CCCCCC"/>
                </a:solidFill>
              </a:rPr>
              <a:t> </a:t>
            </a:r>
            <a:r>
              <a:rPr lang="en-GB" sz="1800" b="1" u="sng">
                <a:solidFill>
                  <a:srgbClr val="CCCCCC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L2</a:t>
            </a:r>
            <a:r>
              <a:rPr lang="en-GB" sz="1800" b="1" u="sng">
                <a:solidFill>
                  <a:srgbClr val="CCCCCC"/>
                </a:solidFill>
              </a:rPr>
              <a:t> / </a:t>
            </a:r>
            <a:r>
              <a:rPr lang="en-GB" sz="1800" b="1" u="sng">
                <a:solidFill>
                  <a:srgbClr val="CCCCCC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R2</a:t>
            </a:r>
            <a:endParaRPr sz="1800" b="1" u="sng">
              <a:solidFill>
                <a:srgbClr val="CCCCCC"/>
              </a:solidFill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-GB" sz="1800" b="1">
                <a:solidFill>
                  <a:schemeClr val="lt1"/>
                </a:solidFill>
              </a:rPr>
              <a:t>Shoulder (Up/Down):</a:t>
            </a:r>
            <a:r>
              <a:rPr lang="en-GB" sz="1800">
                <a:solidFill>
                  <a:schemeClr val="lt1"/>
                </a:solidFill>
              </a:rPr>
              <a:t> </a:t>
            </a:r>
            <a:r>
              <a:rPr lang="en-GB" sz="1800" b="1" u="sng">
                <a:solidFill>
                  <a:srgbClr val="CCCCCC"/>
                </a:solidFill>
              </a:rPr>
              <a:t>Right Joystick (Up/Down)</a:t>
            </a:r>
            <a:endParaRPr sz="1800" b="1" u="sng">
              <a:solidFill>
                <a:srgbClr val="CCCCCC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-GB" sz="1800" b="1">
                <a:solidFill>
                  <a:schemeClr val="lt1"/>
                </a:solidFill>
              </a:rPr>
              <a:t>Elbow (Forward/Back):</a:t>
            </a:r>
            <a:r>
              <a:rPr lang="en-GB" sz="1800">
                <a:solidFill>
                  <a:schemeClr val="lt1"/>
                </a:solidFill>
              </a:rPr>
              <a:t> </a:t>
            </a:r>
            <a:r>
              <a:rPr lang="en-GB" sz="1800" b="1" u="sng">
                <a:solidFill>
                  <a:srgbClr val="CCCCCC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L1</a:t>
            </a:r>
            <a:r>
              <a:rPr lang="en-GB" sz="1800" b="1" u="sng">
                <a:solidFill>
                  <a:srgbClr val="CCCCCC"/>
                </a:solidFill>
              </a:rPr>
              <a:t> / </a:t>
            </a:r>
            <a:r>
              <a:rPr lang="en-GB" sz="1800" b="1" u="sng">
                <a:solidFill>
                  <a:srgbClr val="CCCCCC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R1</a:t>
            </a:r>
            <a:endParaRPr sz="1800" b="1" u="sng">
              <a:solidFill>
                <a:srgbClr val="CCCCCC"/>
              </a:solidFill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-GB" sz="1800" b="1">
                <a:solidFill>
                  <a:schemeClr val="lt1"/>
                </a:solidFill>
              </a:rPr>
              <a:t>Gripper : Open ( </a:t>
            </a:r>
            <a:r>
              <a:rPr lang="en-GB" sz="1800">
                <a:solidFill>
                  <a:schemeClr val="lt1"/>
                </a:solidFill>
              </a:rPr>
              <a:t>□ </a:t>
            </a:r>
            <a:r>
              <a:rPr lang="en-GB" sz="1800" b="1">
                <a:solidFill>
                  <a:schemeClr val="lt1"/>
                </a:solidFill>
              </a:rPr>
              <a:t>) / Close ( </a:t>
            </a:r>
            <a:r>
              <a:rPr lang="en-GB" sz="1800">
                <a:solidFill>
                  <a:schemeClr val="lt1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X</a:t>
            </a:r>
            <a:r>
              <a:rPr lang="en-GB" sz="1800">
                <a:solidFill>
                  <a:schemeClr val="lt1"/>
                </a:solidFill>
              </a:rPr>
              <a:t> </a:t>
            </a:r>
            <a:r>
              <a:rPr lang="en-GB" sz="1800" b="1">
                <a:solidFill>
                  <a:schemeClr val="lt1"/>
                </a:solidFill>
              </a:rPr>
              <a:t>)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6"/>
          <p:cNvSpPr txBox="1"/>
          <p:nvPr/>
        </p:nvSpPr>
        <p:spPr>
          <a:xfrm>
            <a:off x="347025" y="294950"/>
            <a:ext cx="8454000" cy="45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2900" b="1">
                <a:solidFill>
                  <a:schemeClr val="lt1"/>
                </a:solidFill>
              </a:rPr>
              <a:t>Code Structure Summary</a:t>
            </a:r>
            <a:endParaRPr sz="2900" b="1">
              <a:solidFill>
                <a:schemeClr val="lt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 b="1">
                <a:solidFill>
                  <a:schemeClr val="lt1"/>
                </a:solidFill>
              </a:rPr>
              <a:t>Core Functions:</a:t>
            </a:r>
            <a:endParaRPr sz="1700" b="1">
              <a:solidFill>
                <a:schemeClr val="lt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-GB" sz="1900" b="1" u="sng">
                <a:solidFill>
                  <a:srgbClr val="CCCCCC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setup()</a:t>
            </a:r>
            <a:r>
              <a:rPr lang="en-GB" sz="1900" b="1" u="sng">
                <a:solidFill>
                  <a:srgbClr val="CCCCCC"/>
                </a:solidFill>
              </a:rPr>
              <a:t> </a:t>
            </a:r>
            <a:r>
              <a:rPr lang="en-GB" sz="1700">
                <a:solidFill>
                  <a:schemeClr val="lt1"/>
                </a:solidFill>
              </a:rPr>
              <a:t>– Initializes hardware (motors, servos, Bluetooth).</a:t>
            </a:r>
            <a:endParaRPr sz="1700">
              <a:solidFill>
                <a:schemeClr val="lt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-GB" sz="1900" b="1" u="sng">
                <a:solidFill>
                  <a:srgbClr val="CCCCCC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loop()</a:t>
            </a:r>
            <a:r>
              <a:rPr lang="en-GB" sz="1900" b="1" u="sng">
                <a:solidFill>
                  <a:srgbClr val="CCCCCC"/>
                </a:solidFill>
              </a:rPr>
              <a:t> </a:t>
            </a:r>
            <a:r>
              <a:rPr lang="en-GB" sz="1700">
                <a:solidFill>
                  <a:schemeClr val="lt1"/>
                </a:solidFill>
              </a:rPr>
              <a:t>– Runs continuously, handles input and logic.</a:t>
            </a:r>
            <a:endParaRPr sz="1700">
              <a:solidFill>
                <a:schemeClr val="lt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 b="1">
                <a:solidFill>
                  <a:schemeClr val="lt1"/>
                </a:solidFill>
              </a:rPr>
              <a:t>Main Logic Function:</a:t>
            </a:r>
            <a:endParaRPr sz="1700" b="1">
              <a:solidFill>
                <a:schemeClr val="lt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-GB" sz="1900" b="1" u="sng">
                <a:solidFill>
                  <a:srgbClr val="CCCCCC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control(ControllerPtr ctl)</a:t>
            </a:r>
            <a:r>
              <a:rPr lang="en-GB" sz="1900" b="1" u="sng">
                <a:solidFill>
                  <a:srgbClr val="CCCCCC"/>
                </a:solidFill>
              </a:rPr>
              <a:t> </a:t>
            </a:r>
            <a:r>
              <a:rPr lang="en-GB" sz="1700">
                <a:solidFill>
                  <a:schemeClr val="lt1"/>
                </a:solidFill>
              </a:rPr>
              <a:t>– Reads controller input and calls helper functions.</a:t>
            </a:r>
            <a:endParaRPr sz="1700">
              <a:solidFill>
                <a:schemeClr val="lt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 b="1">
                <a:solidFill>
                  <a:schemeClr val="lt1"/>
                </a:solidFill>
              </a:rPr>
              <a:t>Helper Functions:</a:t>
            </a:r>
            <a:endParaRPr sz="1700" b="1">
              <a:solidFill>
                <a:schemeClr val="lt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-GB" sz="1900" b="1" u="sng">
                <a:solidFill>
                  <a:srgbClr val="CCCCCC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motor(left, dir, spd)</a:t>
            </a:r>
            <a:r>
              <a:rPr lang="en-GB" sz="1900" b="1" u="sng">
                <a:solidFill>
                  <a:srgbClr val="CCCCCC"/>
                </a:solidFill>
              </a:rPr>
              <a:t> </a:t>
            </a:r>
            <a:r>
              <a:rPr lang="en-GB" sz="1700">
                <a:solidFill>
                  <a:schemeClr val="lt1"/>
                </a:solidFill>
              </a:rPr>
              <a:t>– Controls robot motors (L298N).</a:t>
            </a:r>
            <a:endParaRPr sz="1700">
              <a:solidFill>
                <a:schemeClr val="lt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-GB" sz="1900" b="1" u="sng">
                <a:solidFill>
                  <a:srgbClr val="CCCCCC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servo(ch, ang)</a:t>
            </a:r>
            <a:r>
              <a:rPr lang="en-GB" sz="1700">
                <a:solidFill>
                  <a:schemeClr val="lt1"/>
                </a:solidFill>
              </a:rPr>
              <a:t> – Controls a servo via PCA9685.</a:t>
            </a:r>
            <a:endParaRPr sz="1700">
              <a:solidFill>
                <a:schemeClr val="lt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 b="1">
                <a:solidFill>
                  <a:schemeClr val="lt1"/>
                </a:solidFill>
              </a:rPr>
              <a:t>Bluetooth Callbacks:</a:t>
            </a:r>
            <a:endParaRPr sz="1700" b="1">
              <a:solidFill>
                <a:schemeClr val="lt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-GB" sz="1900" b="1" u="sng">
                <a:solidFill>
                  <a:srgbClr val="CCCCCC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onConnect(ctl)</a:t>
            </a:r>
            <a:r>
              <a:rPr lang="en-GB" sz="1700">
                <a:solidFill>
                  <a:schemeClr val="lt1"/>
                </a:solidFill>
              </a:rPr>
              <a:t> – Triggered when a controller connects.</a:t>
            </a:r>
            <a:endParaRPr sz="1700">
              <a:solidFill>
                <a:schemeClr val="lt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-GB" sz="1900" b="1" u="sng">
                <a:solidFill>
                  <a:srgbClr val="CCCCCC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onDisconnect(ctl)</a:t>
            </a:r>
            <a:r>
              <a:rPr lang="en-GB" sz="1700">
                <a:solidFill>
                  <a:schemeClr val="lt1"/>
                </a:solidFill>
              </a:rPr>
              <a:t> – Triggered when a controller disconnects.</a:t>
            </a:r>
            <a:endParaRPr sz="17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  <a:effectLst/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 txBox="1"/>
          <p:nvPr/>
        </p:nvSpPr>
        <p:spPr>
          <a:xfrm>
            <a:off x="206850" y="176325"/>
            <a:ext cx="8604900" cy="4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2900" b="1">
                <a:solidFill>
                  <a:schemeClr val="lt1"/>
                </a:solidFill>
              </a:rPr>
              <a:t>Challenges Faced</a:t>
            </a:r>
            <a:endParaRPr sz="2900" b="1">
              <a:solidFill>
                <a:schemeClr val="lt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 b="1">
                <a:solidFill>
                  <a:schemeClr val="lt1"/>
                </a:solidFill>
              </a:rPr>
              <a:t>1. Initial Hardware Failure:</a:t>
            </a:r>
            <a:endParaRPr sz="1700" b="1">
              <a:solidFill>
                <a:schemeClr val="lt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-GB" sz="1700">
                <a:solidFill>
                  <a:schemeClr val="lt1"/>
                </a:solidFill>
              </a:rPr>
              <a:t>We faced the failure of two ESP32 boards at the start of the project due to incorrect power wiring and attempts to use an L293D shield.</a:t>
            </a:r>
            <a:endParaRPr sz="1700">
              <a:solidFill>
                <a:schemeClr val="lt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 b="1">
                <a:solidFill>
                  <a:schemeClr val="lt1"/>
                </a:solidFill>
              </a:rPr>
              <a:t>2. L293D Driver Incompatibility:</a:t>
            </a:r>
            <a:endParaRPr sz="1700" b="1">
              <a:solidFill>
                <a:schemeClr val="lt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-GB" sz="1700">
                <a:solidFill>
                  <a:schemeClr val="lt1"/>
                </a:solidFill>
              </a:rPr>
              <a:t>We discovered the L293D shield was defective (M1/M2 channels were dead) and used a complex (Shift Register) control system.</a:t>
            </a:r>
            <a:endParaRPr sz="1700">
              <a:solidFill>
                <a:schemeClr val="lt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-GB" sz="1700" b="1">
                <a:solidFill>
                  <a:schemeClr val="lt1"/>
                </a:solidFill>
              </a:rPr>
              <a:t>Solution:</a:t>
            </a:r>
            <a:r>
              <a:rPr lang="en-GB" sz="1700">
                <a:solidFill>
                  <a:schemeClr val="lt1"/>
                </a:solidFill>
              </a:rPr>
              <a:t> Replaced it with the simpler and more robust L298N driver.</a:t>
            </a:r>
            <a:endParaRPr sz="1700">
              <a:solidFill>
                <a:schemeClr val="lt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 b="1">
                <a:solidFill>
                  <a:schemeClr val="lt1"/>
                </a:solidFill>
              </a:rPr>
              <a:t>3. Bluetooth Connectivity Issues:</a:t>
            </a:r>
            <a:endParaRPr sz="1700" b="1">
              <a:solidFill>
                <a:schemeClr val="lt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-GB" sz="1700">
                <a:solidFill>
                  <a:schemeClr val="lt1"/>
                </a:solidFill>
              </a:rPr>
              <a:t>Difficulty connecting Bluepad32 due to experimenting with other (incompatible) Bluetooth libraries, which led to a Core Software Conflict in the Arduino IDE.</a:t>
            </a:r>
            <a:endParaRPr sz="1700">
              <a:solidFill>
                <a:schemeClr val="lt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-GB" sz="1700" b="1">
                <a:solidFill>
                  <a:schemeClr val="lt1"/>
                </a:solidFill>
              </a:rPr>
              <a:t>Solution:</a:t>
            </a:r>
            <a:r>
              <a:rPr lang="en-GB" sz="1700">
                <a:solidFill>
                  <a:schemeClr val="lt1"/>
                </a:solidFill>
              </a:rPr>
              <a:t> </a:t>
            </a:r>
            <a:r>
              <a:rPr lang="en-GB" sz="1700">
                <a:solidFill>
                  <a:srgbClr val="E8EAED"/>
                </a:solidFill>
              </a:rPr>
              <a:t>The solution was to switch libraries.</a:t>
            </a:r>
            <a:endParaRPr sz="17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8"/>
          <p:cNvSpPr txBox="1"/>
          <p:nvPr/>
        </p:nvSpPr>
        <p:spPr>
          <a:xfrm>
            <a:off x="303900" y="154750"/>
            <a:ext cx="8001000" cy="43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3100" b="1">
                <a:solidFill>
                  <a:schemeClr val="lt1"/>
                </a:solidFill>
              </a:rPr>
              <a:t>Results &amp; Demo</a:t>
            </a:r>
            <a:endParaRPr sz="3100" b="1">
              <a:solidFill>
                <a:schemeClr val="lt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-GB" sz="1900" b="1">
                <a:solidFill>
                  <a:schemeClr val="lt1"/>
                </a:solidFill>
              </a:rPr>
              <a:t>Current Status:</a:t>
            </a:r>
            <a:endParaRPr sz="1900" b="1">
              <a:solidFill>
                <a:schemeClr val="lt1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</a:pPr>
            <a:r>
              <a:rPr lang="en-GB" sz="1900">
                <a:solidFill>
                  <a:schemeClr val="lt1"/>
                </a:solidFill>
              </a:rPr>
              <a:t>A fully functional prototype.</a:t>
            </a:r>
            <a:endParaRPr sz="1900">
              <a:solidFill>
                <a:schemeClr val="lt1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</a:pPr>
            <a:r>
              <a:rPr lang="en-GB" sz="1900">
                <a:solidFill>
                  <a:schemeClr val="lt1"/>
                </a:solidFill>
              </a:rPr>
              <a:t>The robot connects reliably to the PS5 controller.</a:t>
            </a:r>
            <a:endParaRPr sz="1900">
              <a:solidFill>
                <a:schemeClr val="lt1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</a:pPr>
            <a:r>
              <a:rPr lang="en-GB" sz="1900">
                <a:solidFill>
                  <a:schemeClr val="lt1"/>
                </a:solidFill>
              </a:rPr>
              <a:t>All systems (Movement and Arm) respond correctly to the new control scheme.</a:t>
            </a:r>
            <a:endParaRPr sz="1900">
              <a:solidFill>
                <a:schemeClr val="lt1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</a:pPr>
            <a:r>
              <a:rPr lang="en-GB" sz="1900">
                <a:solidFill>
                  <a:schemeClr val="lt1"/>
                </a:solidFill>
              </a:rPr>
              <a:t>The "dual-voltage" power system successfully isolates motor noise from the logic circuits.</a:t>
            </a:r>
            <a:endParaRPr sz="1900">
              <a:solidFill>
                <a:schemeClr val="lt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-GB" sz="1900" b="1">
                <a:solidFill>
                  <a:schemeClr val="lt1"/>
                </a:solidFill>
              </a:rPr>
              <a:t>Live Demonstration:</a:t>
            </a:r>
            <a:endParaRPr sz="1900" b="1">
              <a:solidFill>
                <a:schemeClr val="lt1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</a:pPr>
            <a:r>
              <a:rPr lang="en-GB" sz="1900" i="1">
                <a:solidFill>
                  <a:schemeClr val="lt1"/>
                </a:solidFill>
              </a:rPr>
              <a:t>(</a:t>
            </a:r>
            <a:r>
              <a:rPr lang="en-GB" sz="1900" i="1" u="sng">
                <a:solidFill>
                  <a:schemeClr val="hlink"/>
                </a:solidFill>
                <a:hlinkClick r:id="rId1"/>
              </a:rPr>
              <a:t>Click to watch the video</a:t>
            </a:r>
            <a:r>
              <a:rPr lang="en-GB" sz="1900" i="1">
                <a:solidFill>
                  <a:schemeClr val="lt1"/>
                </a:solidFill>
              </a:rPr>
              <a:t>)</a:t>
            </a:r>
            <a:endParaRPr sz="40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9"/>
          <p:cNvSpPr txBox="1"/>
          <p:nvPr/>
        </p:nvSpPr>
        <p:spPr>
          <a:xfrm>
            <a:off x="368600" y="381200"/>
            <a:ext cx="8421600" cy="44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3100" b="1">
                <a:solidFill>
                  <a:schemeClr val="lt1"/>
                </a:solidFill>
              </a:rPr>
              <a:t>Future Operations:</a:t>
            </a:r>
            <a:endParaRPr sz="1900" i="1">
              <a:solidFill>
                <a:schemeClr val="lt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-GB" sz="1900" b="1">
                <a:solidFill>
                  <a:schemeClr val="lt1"/>
                </a:solidFill>
              </a:rPr>
              <a:t>1. Standalone Mode (AI):</a:t>
            </a:r>
            <a:endParaRPr sz="1900" b="1">
              <a:solidFill>
                <a:schemeClr val="lt1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</a:pPr>
            <a:r>
              <a:rPr lang="en-GB" sz="1900">
                <a:solidFill>
                  <a:schemeClr val="lt1"/>
                </a:solidFill>
              </a:rPr>
              <a:t>Integration of an ESP32-CAM vision camera.</a:t>
            </a:r>
            <a:endParaRPr sz="1900">
              <a:solidFill>
                <a:schemeClr val="lt1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</a:pPr>
            <a:r>
              <a:rPr lang="en-GB" sz="1900">
                <a:solidFill>
                  <a:schemeClr val="lt1"/>
                </a:solidFill>
              </a:rPr>
              <a:t>AI/Machine Learning training model (using tools such as Edge Impulse) on:</a:t>
            </a:r>
            <a:endParaRPr sz="1900">
              <a:solidFill>
                <a:schemeClr val="lt1"/>
              </a:solidFill>
            </a:endParaRPr>
          </a:p>
          <a:p>
            <a:pPr marL="137160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</a:pPr>
            <a:r>
              <a:rPr lang="en-GB" sz="1900">
                <a:solidFill>
                  <a:schemeClr val="lt1"/>
                </a:solidFill>
              </a:rPr>
              <a:t>Object Detection (detecting objects).</a:t>
            </a:r>
            <a:endParaRPr sz="1900">
              <a:solidFill>
                <a:schemeClr val="lt1"/>
              </a:solidFill>
            </a:endParaRPr>
          </a:p>
          <a:p>
            <a:pPr marL="137160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</a:pPr>
            <a:r>
              <a:rPr lang="en-GB" sz="1900">
                <a:solidFill>
                  <a:schemeClr val="lt1"/>
                </a:solidFill>
              </a:rPr>
              <a:t>Waste Sorting (distinguishing between plastic, paper, and metal).</a:t>
            </a:r>
            <a:endParaRPr sz="1900">
              <a:solidFill>
                <a:schemeClr val="lt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-GB" sz="1900" b="1">
                <a:solidFill>
                  <a:schemeClr val="lt1"/>
                </a:solidFill>
              </a:rPr>
              <a:t>2. Mechanical Improvements:</a:t>
            </a:r>
            <a:r>
              <a:rPr lang="en-GB" sz="1900">
                <a:solidFill>
                  <a:schemeClr val="lt1"/>
                </a:solidFill>
              </a:rPr>
              <a:t> </a:t>
            </a:r>
            <a:r>
              <a:rPr lang="en-GB" sz="1900" i="1">
                <a:solidFill>
                  <a:schemeClr val="lt1"/>
                </a:solidFill>
              </a:rPr>
              <a:t>(Corrected from "Pricing")</a:t>
            </a:r>
            <a:endParaRPr sz="1900" i="1">
              <a:solidFill>
                <a:schemeClr val="lt1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</a:pPr>
            <a:r>
              <a:rPr lang="en-GB" sz="1900">
                <a:solidFill>
                  <a:schemeClr val="lt1"/>
                </a:solidFill>
              </a:rPr>
              <a:t>Design and printing of a custom, lightweight frame and use of high-quality components.</a:t>
            </a:r>
            <a:endParaRPr sz="1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0"/>
          <p:cNvSpPr txBox="1"/>
          <p:nvPr/>
        </p:nvSpPr>
        <p:spPr>
          <a:xfrm>
            <a:off x="1069500" y="1826125"/>
            <a:ext cx="7332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4000" b="1">
                <a:solidFill>
                  <a:schemeClr val="lt1"/>
                </a:solidFill>
                <a:latin typeface="Pacifico" panose="00000500000000000000"/>
                <a:ea typeface="Pacifico" panose="00000500000000000000"/>
                <a:cs typeface="Pacifico" panose="00000500000000000000"/>
                <a:sym typeface="Pacifico" panose="00000500000000000000"/>
              </a:rPr>
              <a:t>Thank</a:t>
            </a:r>
            <a:r>
              <a:rPr lang="en-GB" sz="4000" b="1">
                <a:solidFill>
                  <a:schemeClr val="lt1"/>
                </a:solidFill>
                <a:latin typeface="Pacifico" panose="00000500000000000000"/>
                <a:ea typeface="Pacifico" panose="00000500000000000000"/>
                <a:cs typeface="Pacifico" panose="00000500000000000000"/>
                <a:sym typeface="Pacifico" panose="00000500000000000000"/>
              </a:rPr>
              <a:t> you for your attention</a:t>
            </a:r>
            <a:endParaRPr sz="10100" b="1">
              <a:solidFill>
                <a:schemeClr val="lt1"/>
              </a:solidFill>
              <a:latin typeface="Pacifico" panose="00000500000000000000"/>
              <a:ea typeface="Pacifico" panose="00000500000000000000"/>
              <a:cs typeface="Pacifico" panose="00000500000000000000"/>
              <a:sym typeface="Pacifico" panose="000005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rterly Review (Futuristic)">
  <a:themeElements>
    <a:clrScheme name="Simple Light">
      <a:dk1>
        <a:srgbClr val="070707"/>
      </a:dk1>
      <a:lt1>
        <a:srgbClr val="FFFFFF"/>
      </a:lt1>
      <a:dk2>
        <a:srgbClr val="004741"/>
      </a:dk2>
      <a:lt2>
        <a:srgbClr val="F4F4F4"/>
      </a:lt2>
      <a:accent1>
        <a:srgbClr val="6DCFBE"/>
      </a:accent1>
      <a:accent2>
        <a:srgbClr val="81F5FF"/>
      </a:accent2>
      <a:accent3>
        <a:srgbClr val="202020"/>
      </a:accent3>
      <a:accent4>
        <a:srgbClr val="008585"/>
      </a:accent4>
      <a:accent5>
        <a:srgbClr val="808080"/>
      </a:accent5>
      <a:accent6>
        <a:srgbClr val="9AE9FF"/>
      </a:accent6>
      <a:hlink>
        <a:srgbClr val="6DCFB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4418</Words>
  <Application>WPS Presentation</Application>
  <PresentationFormat/>
  <Paragraphs>198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Arial</vt:lpstr>
      <vt:lpstr>Space Grotesk</vt:lpstr>
      <vt:lpstr>Roboto</vt:lpstr>
      <vt:lpstr>Space Grotesk Light</vt:lpstr>
      <vt:lpstr>Lexend ExtraBold</vt:lpstr>
      <vt:lpstr>Roboto Mono</vt:lpstr>
      <vt:lpstr>Pacifico</vt:lpstr>
      <vt:lpstr>Microsoft YaHei</vt:lpstr>
      <vt:lpstr>Arial Unicode MS</vt:lpstr>
      <vt:lpstr>Quarterly Review (Futuristic)</vt:lpstr>
      <vt:lpstr>EcoBot: The Smart Garbage Collection Robot</vt:lpstr>
      <vt:lpstr>PowerPoint 演示文稿</vt:lpstr>
      <vt:lpstr>PowerPoint 演示文稿</vt:lpstr>
      <vt:lpstr>Hardware Components: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EcoBot: The Smart Garbage Collection Robot</dc:title>
  <dc:creator/>
  <cp:lastModifiedBy>WPS_1701018983</cp:lastModifiedBy>
  <cp:revision>3</cp:revision>
  <dcterms:created xsi:type="dcterms:W3CDTF">2025-11-12T17:45:00Z</dcterms:created>
  <dcterms:modified xsi:type="dcterms:W3CDTF">2025-11-13T11:54:12Z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E56B4D0D987249D0A266FC75BE586279_12</vt:lpwstr>
  </property>
  <property fmtid="{D5CDD505-2E9C-101B-9397-08002B2CF9AE}" pid="3" name="KSOProductBuildVer">
    <vt:lpwstr>1033-12.2.0.23155</vt:lpwstr>
  </property>
</Properties>
</file>